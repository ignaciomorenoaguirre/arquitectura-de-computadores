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1" r:id="rId1"/>
  </p:sldMasterIdLst>
  <p:notesMasterIdLst>
    <p:notesMasterId r:id="rId15"/>
  </p:notesMasterIdLst>
  <p:handoutMasterIdLst>
    <p:handoutMasterId r:id="rId16"/>
  </p:handoutMasterIdLst>
  <p:sldIdLst>
    <p:sldId id="256" r:id="rId2"/>
    <p:sldId id="675" r:id="rId3"/>
    <p:sldId id="643" r:id="rId4"/>
    <p:sldId id="640" r:id="rId5"/>
    <p:sldId id="676" r:id="rId6"/>
    <p:sldId id="651" r:id="rId7"/>
    <p:sldId id="650" r:id="rId8"/>
    <p:sldId id="644" r:id="rId9"/>
    <p:sldId id="645" r:id="rId10"/>
    <p:sldId id="646" r:id="rId11"/>
    <p:sldId id="649" r:id="rId12"/>
    <p:sldId id="648" r:id="rId13"/>
    <p:sldId id="642" r:id="rId14"/>
  </p:sldIdLst>
  <p:sldSz cx="9144000" cy="6859588"/>
  <p:notesSz cx="68580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Proxima Nova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blo Huijse Heise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93" autoAdjust="0"/>
    <p:restoredTop sz="94661" autoAdjust="0"/>
  </p:normalViewPr>
  <p:slideViewPr>
    <p:cSldViewPr>
      <p:cViewPr varScale="1">
        <p:scale>
          <a:sx n="89" d="100"/>
          <a:sy n="89" d="100"/>
        </p:scale>
        <p:origin x="960" y="86"/>
      </p:cViewPr>
      <p:guideLst>
        <p:guide orient="horz" pos="2161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EDFD0-0F6B-40B7-BAF1-D0F21640E390}" type="datetimeFigureOut">
              <a:rPr lang="es-ES_tradnl" smtClean="0"/>
              <a:t>29/11/2022</a:t>
            </a:fld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31AD2-9AA0-4203-B350-026AF9C3BB5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088889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8500640"/>
      </p:ext>
    </p:extLst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42e3e7cd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42e3e7cd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19446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10867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" y="0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84463" y="0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fld id="{B6716470-243F-4DE5-8AC1-629C520B78BB}" type="datetime3">
              <a:rPr lang="en-US"/>
              <a:pPr/>
              <a:t>29 November 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1" y="8685878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63" y="8685878"/>
            <a:ext cx="2972004" cy="456704"/>
          </a:xfrm>
          <a:prstGeom prst="rect">
            <a:avLst/>
          </a:prstGeom>
          <a:ln/>
        </p:spPr>
        <p:txBody>
          <a:bodyPr lIns="84408" tIns="42204" rIns="84408" bIns="42204"/>
          <a:lstStyle/>
          <a:p>
            <a:fld id="{FF183821-BA0E-41A7-BF3E-CD0B35935A81}" type="slidenum">
              <a:rPr lang="en-US"/>
              <a:pPr/>
              <a:t>13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3998459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14"/>
          <p:cNvSpPr txBox="1">
            <a:spLocks noGrp="1"/>
          </p:cNvSpPr>
          <p:nvPr>
            <p:ph type="ctrTitle"/>
          </p:nvPr>
        </p:nvSpPr>
        <p:spPr>
          <a:xfrm>
            <a:off x="510450" y="1676788"/>
            <a:ext cx="8123100" cy="211849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10450" y="4244066"/>
            <a:ext cx="8123100" cy="84019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6219062"/>
            <a:ext cx="548700" cy="524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311700" y="593504"/>
            <a:ext cx="8520600" cy="763777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311700" y="1536989"/>
            <a:ext cx="3999900" cy="455625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2"/>
          </p:nvPr>
        </p:nvSpPr>
        <p:spPr>
          <a:xfrm>
            <a:off x="4832400" y="1536989"/>
            <a:ext cx="3999900" cy="455625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8472458" y="6219062"/>
            <a:ext cx="548700" cy="524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311700" y="740972"/>
            <a:ext cx="2808000" cy="1007833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body" idx="1"/>
          </p:nvPr>
        </p:nvSpPr>
        <p:spPr>
          <a:xfrm>
            <a:off x="311700" y="1853229"/>
            <a:ext cx="2808000" cy="4240182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472458" y="6219062"/>
            <a:ext cx="548700" cy="524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>
            <a:spLocks noGrp="1"/>
          </p:cNvSpPr>
          <p:nvPr>
            <p:ph type="body" idx="1"/>
          </p:nvPr>
        </p:nvSpPr>
        <p:spPr>
          <a:xfrm>
            <a:off x="311700" y="5650408"/>
            <a:ext cx="5998800" cy="798585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ldNum" idx="12"/>
          </p:nvPr>
        </p:nvSpPr>
        <p:spPr>
          <a:xfrm>
            <a:off x="8472458" y="6219062"/>
            <a:ext cx="548700" cy="524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38200" y="342979"/>
            <a:ext cx="7772400" cy="11051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838200" y="1753006"/>
            <a:ext cx="3810000" cy="411575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800600" y="1753006"/>
            <a:ext cx="3810000" cy="198165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800600" y="3887100"/>
            <a:ext cx="3810000" cy="198165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324477"/>
            <a:ext cx="1905000" cy="45730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477"/>
            <a:ext cx="2895600" cy="45730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4F17D-E1CB-489C-8AB6-F37ECE5C48F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9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38200" y="342979"/>
            <a:ext cx="7772400" cy="11051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838200" y="1753006"/>
            <a:ext cx="3810000" cy="411575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800600" y="1753006"/>
            <a:ext cx="3810000" cy="411575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324477"/>
            <a:ext cx="1905000" cy="45730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477"/>
            <a:ext cx="2895600" cy="45730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EE0DB5-56EF-43C1-AAA3-3291A2F27D9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1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3850" y="6238732"/>
            <a:ext cx="2133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Semestre Primavera 2018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4825" y="6238732"/>
            <a:ext cx="2895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AU"/>
              <a:t>EL-4102 Arquitectura de Computadores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Francisco Rivera</a:t>
            </a:r>
          </a:p>
        </p:txBody>
      </p:sp>
    </p:spTree>
    <p:extLst>
      <p:ext uri="{BB962C8B-B14F-4D97-AF65-F5344CB8AC3E}">
        <p14:creationId xmlns:p14="http://schemas.microsoft.com/office/powerpoint/2010/main" val="2222126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3850" y="6238732"/>
            <a:ext cx="2133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Semestre Primavera 2018</a:t>
            </a: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4825" y="6238732"/>
            <a:ext cx="2895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AU"/>
              <a:t>EL-4102 Arquitectura de Computadores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Francisco Rivera</a:t>
            </a:r>
          </a:p>
        </p:txBody>
      </p:sp>
    </p:spTree>
    <p:extLst>
      <p:ext uri="{BB962C8B-B14F-4D97-AF65-F5344CB8AC3E}">
        <p14:creationId xmlns:p14="http://schemas.microsoft.com/office/powerpoint/2010/main" val="304733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3850" y="6238732"/>
            <a:ext cx="2133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Semestre Primavera 2018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4825" y="6238732"/>
            <a:ext cx="2895600" cy="47636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AU"/>
              <a:t>EL-4102 Arquitectura de Computadores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Francisco Rivera</a:t>
            </a:r>
          </a:p>
        </p:txBody>
      </p:sp>
    </p:spTree>
    <p:extLst>
      <p:ext uri="{BB962C8B-B14F-4D97-AF65-F5344CB8AC3E}">
        <p14:creationId xmlns:p14="http://schemas.microsoft.com/office/powerpoint/2010/main" val="110891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6729158"/>
            <a:ext cx="9144000" cy="13043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311700" y="593504"/>
            <a:ext cx="8520600" cy="763777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311700" y="1536989"/>
            <a:ext cx="8520600" cy="455625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472458" y="6219062"/>
            <a:ext cx="548700" cy="524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977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593504"/>
            <a:ext cx="8520600" cy="76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536989"/>
            <a:ext cx="8520600" cy="455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6219062"/>
            <a:ext cx="548700" cy="52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2" r:id="rId2"/>
    <p:sldLayoutId id="2147483664" r:id="rId3"/>
    <p:sldLayoutId id="2147483667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cardo96r/MIPS-Assembly-Ejemplos/tree/master/MIPS_BASICO" TargetMode="External"/><Relationship Id="rId2" Type="http://schemas.openxmlformats.org/officeDocument/2006/relationships/hyperlink" Target="https://github.com/Ricardo96r/MIPS-Assembly-Ejemplo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cs.ucsb.edu/~franklin/64/lectures/mipsassemblytutorial.pdf" TargetMode="External"/><Relationship Id="rId4" Type="http://schemas.openxmlformats.org/officeDocument/2006/relationships/hyperlink" Target="https://godbolt.or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>
            <a:spLocks noGrp="1"/>
          </p:cNvSpPr>
          <p:nvPr>
            <p:ph type="ctrTitle"/>
          </p:nvPr>
        </p:nvSpPr>
        <p:spPr>
          <a:xfrm>
            <a:off x="510450" y="1676788"/>
            <a:ext cx="8123100" cy="21184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s-ES_tradnl" dirty="0"/>
              <a:t>INF60500 - </a:t>
            </a:r>
            <a:r>
              <a:rPr lang="es-MX" dirty="0"/>
              <a:t>Arquitectura de computadores</a:t>
            </a:r>
            <a:br>
              <a:rPr lang="es-MX" sz="3600" dirty="0"/>
            </a:br>
            <a:r>
              <a:rPr lang="es-MX" sz="2800" dirty="0"/>
              <a:t>Depto. de Informática y Computación</a:t>
            </a:r>
            <a:br>
              <a:rPr lang="es-MX" sz="2800" dirty="0"/>
            </a:br>
            <a:r>
              <a:rPr lang="es-MX" sz="2800" dirty="0"/>
              <a:t>Primer semestre 2019</a:t>
            </a:r>
            <a:endParaRPr sz="2800" dirty="0"/>
          </a:p>
        </p:txBody>
      </p:sp>
      <p:sp>
        <p:nvSpPr>
          <p:cNvPr id="106" name="Google Shape;106;p25"/>
          <p:cNvSpPr txBox="1">
            <a:spLocks noGrp="1"/>
          </p:cNvSpPr>
          <p:nvPr>
            <p:ph type="subTitle" idx="1"/>
          </p:nvPr>
        </p:nvSpPr>
        <p:spPr>
          <a:xfrm>
            <a:off x="510450" y="4244066"/>
            <a:ext cx="8123100" cy="8401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Profesor: Jorge R. Vergara &amp; Leonardo Bravo</a:t>
            </a:r>
            <a:endParaRPr sz="2800" dirty="0"/>
          </a:p>
        </p:txBody>
      </p:sp>
      <p:cxnSp>
        <p:nvCxnSpPr>
          <p:cNvPr id="108" name="Google Shape;108;p25"/>
          <p:cNvCxnSpPr/>
          <p:nvPr/>
        </p:nvCxnSpPr>
        <p:spPr>
          <a:xfrm>
            <a:off x="615150" y="3998292"/>
            <a:ext cx="50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6" name="Picture 2" descr="C:\Users\Atila1\Desktop\UTEM\Logo_UTEM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870" y="4848024"/>
            <a:ext cx="1508324" cy="201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CB6E1-2963-263B-3882-24B2A41E0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735" y="333450"/>
            <a:ext cx="6981426" cy="763777"/>
          </a:xfrm>
        </p:spPr>
        <p:txBody>
          <a:bodyPr/>
          <a:lstStyle/>
          <a:p>
            <a:r>
              <a:rPr lang="es-CL" dirty="0"/>
              <a:t>Sitio de Descarga y </a:t>
            </a:r>
            <a:r>
              <a:rPr lang="es-CL" dirty="0" err="1"/>
              <a:t>Release</a:t>
            </a:r>
            <a:r>
              <a:rPr lang="es-CL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B0AEC5-96AF-0697-FD8B-7F9F818DA8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5708F7-DD3C-DA92-EE2D-18DF8264A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98726"/>
            <a:ext cx="8244408" cy="406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95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Enlaces de interés</a:t>
            </a:r>
            <a:endParaRPr lang="es-ES_tradnl" dirty="0"/>
          </a:p>
        </p:txBody>
      </p:sp>
      <p:sp>
        <p:nvSpPr>
          <p:cNvPr id="7" name="6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s-ES_tradnl" dirty="0">
                <a:hlinkClick r:id="rId2"/>
              </a:rPr>
              <a:t>https://github.com/Ricardo96r/MIPS-Assembly-Ejemplos</a:t>
            </a:r>
            <a:r>
              <a:rPr lang="es-ES_tradnl" dirty="0"/>
              <a:t>: Ejemplos de códigos en </a:t>
            </a:r>
            <a:r>
              <a:rPr lang="es-ES_tradnl" dirty="0" err="1"/>
              <a:t>assembly</a:t>
            </a:r>
            <a:endParaRPr lang="es-ES_tradnl" dirty="0"/>
          </a:p>
          <a:p>
            <a:pPr>
              <a:lnSpc>
                <a:spcPct val="150000"/>
              </a:lnSpc>
            </a:pPr>
            <a:r>
              <a:rPr lang="es-ES_tradnl" dirty="0">
                <a:hlinkClick r:id="rId3"/>
              </a:rPr>
              <a:t>https://github.com/Ricardo96r/MIPS-Assembly-Ejemplos/tree/master/MIPS_BASICO</a:t>
            </a:r>
            <a:r>
              <a:rPr lang="es-ES_tradnl" dirty="0"/>
              <a:t> : Ejemplos básicos de MARS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hlinkClick r:id="rId4"/>
              </a:rPr>
              <a:t>https://godbolt.org/</a:t>
            </a:r>
            <a:r>
              <a:rPr lang="es-ES_tradnl" dirty="0"/>
              <a:t>: Compilador de C a MIPS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hlinkClick r:id="rId5"/>
              </a:rPr>
              <a:t>http://www.cs.ucsb.edu/~franklin/64/lectures/mipsassemblytutorial.pdf</a:t>
            </a:r>
            <a:endParaRPr lang="es-ES_tradnl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_tradnl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60029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730AD0F8-D9FB-76CB-5EE0-7E3EE7AAAF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812" y="765498"/>
            <a:ext cx="4227180" cy="5472608"/>
          </a:xfrm>
          <a:prstGeom prst="rect">
            <a:avLst/>
          </a:prstGeom>
        </p:spPr>
      </p:pic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179512" y="261441"/>
            <a:ext cx="8520600" cy="763777"/>
          </a:xfrm>
        </p:spPr>
        <p:txBody>
          <a:bodyPr/>
          <a:lstStyle/>
          <a:p>
            <a:r>
              <a:rPr lang="es-ES_tradnl" dirty="0"/>
              <a:t>Cartilla MIPS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788134"/>
            <a:ext cx="3981401" cy="544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35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311700" y="2277666"/>
            <a:ext cx="8520600" cy="1828178"/>
          </a:xfrm>
        </p:spPr>
        <p:txBody>
          <a:bodyPr/>
          <a:lstStyle/>
          <a:p>
            <a:pPr algn="ctr"/>
            <a:r>
              <a:rPr lang="es-ES_tradnl" sz="4400" b="1" dirty="0"/>
              <a:t>Experimentación e Investigación</a:t>
            </a:r>
            <a:br>
              <a:rPr lang="es-ES_tradnl" sz="4400" b="1" dirty="0"/>
            </a:br>
            <a:r>
              <a:rPr lang="es-ES_tradnl" sz="4400" b="1" dirty="0"/>
              <a:t>MARS</a:t>
            </a:r>
          </a:p>
        </p:txBody>
      </p:sp>
    </p:spTree>
    <p:extLst>
      <p:ext uri="{BB962C8B-B14F-4D97-AF65-F5344CB8AC3E}">
        <p14:creationId xmlns:p14="http://schemas.microsoft.com/office/powerpoint/2010/main" val="255139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CB6E1-2963-263B-3882-24B2A41E0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70" y="261442"/>
            <a:ext cx="8520600" cy="763777"/>
          </a:xfrm>
        </p:spPr>
        <p:txBody>
          <a:bodyPr/>
          <a:lstStyle/>
          <a:p>
            <a:r>
              <a:rPr lang="es-CL" dirty="0"/>
              <a:t>Primer programa : Hola Mundo!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B0AEC5-96AF-0697-FD8B-7F9F818DA8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6EA1D7-5085-491C-2D7A-EC95FF707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73610"/>
            <a:ext cx="5469258" cy="369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328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CB6E1-2963-263B-3882-24B2A41E0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224" y="477466"/>
            <a:ext cx="2041536" cy="763777"/>
          </a:xfrm>
        </p:spPr>
        <p:txBody>
          <a:bodyPr/>
          <a:lstStyle/>
          <a:p>
            <a:r>
              <a:rPr lang="es-CL" dirty="0"/>
              <a:t>Factorial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B0AEC5-96AF-0697-FD8B-7F9F818DA8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0684259-91D4-B5ED-4678-C16B91C52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44" y="117425"/>
            <a:ext cx="5740400" cy="65092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5EA102F-67E1-042F-C077-038A9D46C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192" y="2493690"/>
            <a:ext cx="4542064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69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¿Cuál es el programa?</a:t>
            </a:r>
            <a:endParaRPr lang="es-ES_tradn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 err="1">
                <a:latin typeface="Proxima Nova" charset="0"/>
                <a:cs typeface="Consolas" pitchFamily="49" charset="0"/>
              </a:rPr>
              <a:t>Asuma</a:t>
            </a:r>
            <a:r>
              <a:rPr lang="en-US" dirty="0">
                <a:latin typeface="Proxima Nova" charset="0"/>
                <a:cs typeface="Consolas" pitchFamily="49" charset="0"/>
              </a:rPr>
              <a:t> </a:t>
            </a:r>
            <a:r>
              <a:rPr lang="en-US" dirty="0" err="1">
                <a:latin typeface="Proxima Nova" charset="0"/>
                <a:cs typeface="Consolas" pitchFamily="49" charset="0"/>
              </a:rPr>
              <a:t>que</a:t>
            </a:r>
            <a:r>
              <a:rPr lang="en-US" dirty="0">
                <a:latin typeface="Proxima Nova" charset="0"/>
                <a:cs typeface="Consolas" pitchFamily="49" charset="0"/>
              </a:rPr>
              <a:t> </a:t>
            </a:r>
            <a:r>
              <a:rPr lang="en-US" dirty="0" err="1">
                <a:latin typeface="Proxima Nova" charset="0"/>
                <a:cs typeface="Consolas" pitchFamily="49" charset="0"/>
              </a:rPr>
              <a:t>las</a:t>
            </a:r>
            <a:r>
              <a:rPr lang="en-US" dirty="0">
                <a:latin typeface="Proxima Nova" charset="0"/>
                <a:cs typeface="Consolas" pitchFamily="49" charset="0"/>
              </a:rPr>
              <a:t> variables f ,  g ,  h ,  i , y  j </a:t>
            </a:r>
            <a:r>
              <a:rPr lang="en-US" dirty="0" err="1">
                <a:latin typeface="Proxima Nova" charset="0"/>
                <a:cs typeface="Consolas" pitchFamily="49" charset="0"/>
              </a:rPr>
              <a:t>estan</a:t>
            </a:r>
            <a:r>
              <a:rPr lang="en-US" dirty="0">
                <a:latin typeface="Proxima Nova" charset="0"/>
                <a:cs typeface="Consolas" pitchFamily="49" charset="0"/>
              </a:rPr>
              <a:t> </a:t>
            </a:r>
            <a:r>
              <a:rPr lang="en-US" dirty="0" err="1">
                <a:latin typeface="Proxima Nova" charset="0"/>
                <a:cs typeface="Consolas" pitchFamily="49" charset="0"/>
              </a:rPr>
              <a:t>asignadas</a:t>
            </a:r>
            <a:r>
              <a:rPr lang="en-US" dirty="0">
                <a:latin typeface="Proxima Nova" charset="0"/>
                <a:cs typeface="Consolas" pitchFamily="49" charset="0"/>
              </a:rPr>
              <a:t> a los </a:t>
            </a:r>
            <a:r>
              <a:rPr lang="en-US" dirty="0" err="1">
                <a:latin typeface="Proxima Nova" charset="0"/>
                <a:cs typeface="Consolas" pitchFamily="49" charset="0"/>
              </a:rPr>
              <a:t>registros</a:t>
            </a:r>
            <a:r>
              <a:rPr lang="en-US" dirty="0">
                <a:latin typeface="Proxima Nova" charset="0"/>
                <a:cs typeface="Consolas" pitchFamily="49" charset="0"/>
              </a:rPr>
              <a:t>  $s0 ,  $s1,  $s2 ,  $s3 , and  $s4 , </a:t>
            </a:r>
            <a:r>
              <a:rPr lang="en-US" dirty="0" err="1">
                <a:latin typeface="Proxima Nova" charset="0"/>
                <a:cs typeface="Consolas" pitchFamily="49" charset="0"/>
              </a:rPr>
              <a:t>respectivamente</a:t>
            </a:r>
            <a:r>
              <a:rPr lang="en-US" dirty="0">
                <a:latin typeface="Proxima Nova" charset="0"/>
                <a:cs typeface="Consolas" pitchFamily="49" charset="0"/>
              </a:rPr>
              <a:t>. </a:t>
            </a:r>
            <a:r>
              <a:rPr lang="en-US" dirty="0" err="1">
                <a:latin typeface="Proxima Nova" charset="0"/>
                <a:cs typeface="Consolas" pitchFamily="49" charset="0"/>
              </a:rPr>
              <a:t>Asuma</a:t>
            </a:r>
            <a:r>
              <a:rPr lang="en-US" dirty="0">
                <a:latin typeface="Proxima Nova" charset="0"/>
                <a:cs typeface="Consolas" pitchFamily="49" charset="0"/>
              </a:rPr>
              <a:t> </a:t>
            </a:r>
            <a:r>
              <a:rPr lang="en-US" dirty="0" err="1">
                <a:latin typeface="Proxima Nova" charset="0"/>
                <a:cs typeface="Consolas" pitchFamily="49" charset="0"/>
              </a:rPr>
              <a:t>que</a:t>
            </a:r>
            <a:r>
              <a:rPr lang="en-US" dirty="0">
                <a:latin typeface="Proxima Nova" charset="0"/>
                <a:cs typeface="Consolas" pitchFamily="49" charset="0"/>
              </a:rPr>
              <a:t> la </a:t>
            </a:r>
            <a:r>
              <a:rPr lang="en-US" dirty="0" err="1">
                <a:latin typeface="Proxima Nova" charset="0"/>
                <a:cs typeface="Consolas" pitchFamily="49" charset="0"/>
              </a:rPr>
              <a:t>direccion</a:t>
            </a:r>
            <a:r>
              <a:rPr lang="en-US" dirty="0">
                <a:latin typeface="Proxima Nova" charset="0"/>
                <a:cs typeface="Consolas" pitchFamily="49" charset="0"/>
              </a:rPr>
              <a:t> base del vector  A y  B son los </a:t>
            </a:r>
            <a:r>
              <a:rPr lang="en-US" dirty="0" err="1">
                <a:latin typeface="Proxima Nova" charset="0"/>
                <a:cs typeface="Consolas" pitchFamily="49" charset="0"/>
              </a:rPr>
              <a:t>registros</a:t>
            </a:r>
            <a:r>
              <a:rPr lang="en-US" dirty="0">
                <a:latin typeface="Proxima Nova" charset="0"/>
                <a:cs typeface="Consolas" pitchFamily="49" charset="0"/>
              </a:rPr>
              <a:t>  $s6 and  $s7 , </a:t>
            </a:r>
            <a:r>
              <a:rPr lang="en-US" dirty="0" err="1">
                <a:latin typeface="Proxima Nova" charset="0"/>
                <a:cs typeface="Consolas" pitchFamily="49" charset="0"/>
              </a:rPr>
              <a:t>respectivamente</a:t>
            </a:r>
            <a:r>
              <a:rPr lang="en-US" dirty="0">
                <a:latin typeface="Proxima Nova" charset="0"/>
                <a:cs typeface="Consolas" pitchFamily="49" charset="0"/>
              </a:rPr>
              <a:t>.</a:t>
            </a:r>
          </a:p>
          <a:p>
            <a:pPr marL="114300" indent="0">
              <a:buNone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sub $s0, $s0, $s1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sub $s0, $s0, $s3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$s0, $s0, $s1</a:t>
            </a:r>
          </a:p>
          <a:p>
            <a:pPr marL="114300" indent="0">
              <a:buNone/>
            </a:pPr>
            <a:endParaRPr lang="en-US" u="sng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_tradnl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1835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Revisión </a:t>
            </a:r>
            <a:r>
              <a:rPr lang="es-CL" dirty="0" err="1"/>
              <a:t>minitarea</a:t>
            </a:r>
            <a:r>
              <a:rPr lang="es-CL" dirty="0"/>
              <a:t> 2</a:t>
            </a:r>
            <a:endParaRPr lang="es-ES_tradn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for(i=0; i&lt;a; i++)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a += b;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114300" indent="0"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------------------------------------------------------------</a:t>
            </a:r>
          </a:p>
          <a:p>
            <a:pPr marL="114300" indent="0">
              <a:buNone/>
            </a:pP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_tradnl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60170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Revisión </a:t>
            </a:r>
            <a:r>
              <a:rPr lang="es-CL" dirty="0" err="1"/>
              <a:t>minitarea</a:t>
            </a:r>
            <a:r>
              <a:rPr lang="es-CL" dirty="0"/>
              <a:t> 2</a:t>
            </a:r>
            <a:endParaRPr lang="es-ES_tradn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for(i=0; i&lt;a; i++)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a += b;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114300" indent="0"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------------------------------------------------------------</a:t>
            </a:r>
          </a:p>
          <a:p>
            <a:pPr marL="114300" indent="0">
              <a:buNone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addi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$t0, $0, 0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beq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$0, $0, TEST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LOOP: add $s0, $s0, $s1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addi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$t0, $t0, 1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TEST: 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slt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$t2, $t0, $s0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bne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$t2, $0, LOOP</a:t>
            </a:r>
            <a:endParaRPr lang="es-ES_tradnl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_tradnl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73249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11700" y="180008"/>
            <a:ext cx="8520600" cy="763777"/>
          </a:xfrm>
        </p:spPr>
        <p:txBody>
          <a:bodyPr/>
          <a:lstStyle/>
          <a:p>
            <a:r>
              <a:rPr lang="es-CL" dirty="0"/>
              <a:t>Revisión </a:t>
            </a:r>
            <a:r>
              <a:rPr lang="es-CL" dirty="0" err="1"/>
              <a:t>minitarea</a:t>
            </a:r>
            <a:r>
              <a:rPr lang="es-CL" dirty="0"/>
              <a:t> 2</a:t>
            </a:r>
            <a:endParaRPr lang="es-ES_tradn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0558" y="920919"/>
            <a:ext cx="8520600" cy="5758661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			for(i=0; i&lt;a; i++)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				for(j=0; j&lt;b; j++)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					D[4*j] = i + j;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114300" indent="0"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------------------------------------------------------------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endParaRPr lang="es-ES_tradnl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_tradnl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386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11700" y="180008"/>
            <a:ext cx="8520600" cy="763777"/>
          </a:xfrm>
        </p:spPr>
        <p:txBody>
          <a:bodyPr/>
          <a:lstStyle/>
          <a:p>
            <a:r>
              <a:rPr lang="es-CL" dirty="0"/>
              <a:t>Revisión </a:t>
            </a:r>
            <a:r>
              <a:rPr lang="es-CL" dirty="0" err="1"/>
              <a:t>minitarea</a:t>
            </a:r>
            <a:r>
              <a:rPr lang="es-CL" dirty="0"/>
              <a:t> 2</a:t>
            </a:r>
            <a:endParaRPr lang="es-ES_tradn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0558" y="920919"/>
            <a:ext cx="8520600" cy="5758661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			for(i=0; i&lt;a; i++)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				for(j=0; j&lt;b; j++)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					D[4*j] = i + j;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114300" indent="0"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------------------------------------------------------------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addi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$t0, $0, 0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beq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$0, $0, TEST1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LOOP1:addi $t1, $0, 0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beq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$0, $0, TEST2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LOOP2:add $t3, $t0, $t1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sll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$t2, $t1, 4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add $t2, $t2, $s2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sw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$t3, ($t2)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addi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$t1, $t1, 1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TEST2:slt $t2, $t1, $s1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bne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$t2, $0, LOOP2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addi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$t0, $t0, 1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TEST1:slt $t2, $t0, $s0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bne</a:t>
            </a:r>
            <a:r>
              <a:rPr lang="en-US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$t2, $0, LOOP1</a:t>
            </a:r>
            <a:endParaRPr lang="es-ES_tradnl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_tradnl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37243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11700" y="189434"/>
            <a:ext cx="8520600" cy="1008112"/>
          </a:xfrm>
        </p:spPr>
        <p:txBody>
          <a:bodyPr/>
          <a:lstStyle/>
          <a:p>
            <a:r>
              <a:rPr lang="es-CL" b="1" dirty="0"/>
              <a:t>Ejemplo 1: </a:t>
            </a:r>
            <a:br>
              <a:rPr lang="es-CL" b="1" dirty="0"/>
            </a:br>
            <a:r>
              <a:rPr lang="es-MX" sz="2400" dirty="0"/>
              <a:t>Suma de dato1 y dato2 almacenada en la variable sum.</a:t>
            </a:r>
            <a:endParaRPr lang="es-CL" b="1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1700" y="1465827"/>
            <a:ext cx="8520600" cy="4556255"/>
          </a:xfrm>
        </p:spPr>
        <p:txBody>
          <a:bodyPr/>
          <a:lstStyle/>
          <a:p>
            <a:pPr marL="114300" indent="0">
              <a:lnSpc>
                <a:spcPct val="100000"/>
              </a:lnSpc>
              <a:buNone/>
            </a:pPr>
            <a:r>
              <a:rPr lang="es-MX" dirty="0">
                <a:latin typeface="Consolas" pitchFamily="49" charset="0"/>
                <a:cs typeface="Consolas" pitchFamily="49" charset="0"/>
              </a:rPr>
              <a:t>.data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s-MX" dirty="0">
                <a:latin typeface="Consolas" pitchFamily="49" charset="0"/>
                <a:cs typeface="Consolas" pitchFamily="49" charset="0"/>
              </a:rPr>
              <a:t>dato1:	.</a:t>
            </a:r>
            <a:r>
              <a:rPr lang="es-MX" dirty="0" err="1">
                <a:latin typeface="Consolas" pitchFamily="49" charset="0"/>
                <a:cs typeface="Consolas" pitchFamily="49" charset="0"/>
              </a:rPr>
              <a:t>word</a:t>
            </a:r>
            <a:r>
              <a:rPr lang="es-MX" dirty="0">
                <a:latin typeface="Consolas" pitchFamily="49" charset="0"/>
                <a:cs typeface="Consolas" pitchFamily="49" charset="0"/>
              </a:rPr>
              <a:t> 4				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s-MX" dirty="0">
                <a:latin typeface="Consolas" pitchFamily="49" charset="0"/>
                <a:cs typeface="Consolas" pitchFamily="49" charset="0"/>
              </a:rPr>
              <a:t>dato2:	.</a:t>
            </a:r>
            <a:r>
              <a:rPr lang="es-MX" dirty="0" err="1">
                <a:latin typeface="Consolas" pitchFamily="49" charset="0"/>
                <a:cs typeface="Consolas" pitchFamily="49" charset="0"/>
              </a:rPr>
              <a:t>word</a:t>
            </a:r>
            <a:r>
              <a:rPr lang="es-MX" dirty="0">
                <a:latin typeface="Consolas" pitchFamily="49" charset="0"/>
                <a:cs typeface="Consolas" pitchFamily="49" charset="0"/>
              </a:rPr>
              <a:t> 8				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s-MX" dirty="0">
                <a:latin typeface="Consolas" pitchFamily="49" charset="0"/>
                <a:cs typeface="Consolas" pitchFamily="49" charset="0"/>
              </a:rPr>
              <a:t>sum:	.</a:t>
            </a:r>
            <a:r>
              <a:rPr lang="es-MX" dirty="0" err="1">
                <a:latin typeface="Consolas" pitchFamily="49" charset="0"/>
                <a:cs typeface="Consolas" pitchFamily="49" charset="0"/>
              </a:rPr>
              <a:t>word</a:t>
            </a:r>
            <a:r>
              <a:rPr lang="es-MX" dirty="0">
                <a:latin typeface="Consolas" pitchFamily="49" charset="0"/>
                <a:cs typeface="Consolas" pitchFamily="49" charset="0"/>
              </a:rPr>
              <a:t> 0				</a:t>
            </a:r>
          </a:p>
          <a:p>
            <a:pPr marL="114300" indent="0">
              <a:lnSpc>
                <a:spcPct val="100000"/>
              </a:lnSpc>
              <a:buNone/>
            </a:pPr>
            <a:endParaRPr lang="es-MX" dirty="0">
              <a:latin typeface="Consolas" pitchFamily="49" charset="0"/>
              <a:cs typeface="Consolas" pitchFamily="49" charset="0"/>
            </a:endParaRPr>
          </a:p>
          <a:p>
            <a:pPr marL="114300" indent="0">
              <a:lnSpc>
                <a:spcPct val="100000"/>
              </a:lnSpc>
              <a:buNone/>
            </a:pPr>
            <a:r>
              <a:rPr lang="es-MX" dirty="0">
                <a:latin typeface="Consolas" pitchFamily="49" charset="0"/>
                <a:cs typeface="Consolas" pitchFamily="49" charset="0"/>
              </a:rPr>
              <a:t>.</a:t>
            </a:r>
            <a:r>
              <a:rPr lang="es-MX" dirty="0" err="1">
                <a:latin typeface="Consolas" pitchFamily="49" charset="0"/>
                <a:cs typeface="Consolas" pitchFamily="49" charset="0"/>
              </a:rPr>
              <a:t>text</a:t>
            </a:r>
            <a:endParaRPr lang="es-MX" dirty="0">
              <a:latin typeface="Consolas" pitchFamily="49" charset="0"/>
              <a:cs typeface="Consolas" pitchFamily="49" charset="0"/>
            </a:endParaRPr>
          </a:p>
          <a:p>
            <a:pPr marL="114300" indent="0">
              <a:lnSpc>
                <a:spcPct val="100000"/>
              </a:lnSpc>
              <a:buNone/>
            </a:pPr>
            <a:r>
              <a:rPr lang="es-MX" dirty="0" err="1">
                <a:latin typeface="Consolas" pitchFamily="49" charset="0"/>
                <a:cs typeface="Consolas" pitchFamily="49" charset="0"/>
              </a:rPr>
              <a:t>main</a:t>
            </a:r>
            <a:r>
              <a:rPr lang="es-MX" dirty="0">
                <a:latin typeface="Consolas" pitchFamily="49" charset="0"/>
                <a:cs typeface="Consolas" pitchFamily="49" charset="0"/>
              </a:rPr>
              <a:t>:	</a:t>
            </a:r>
            <a:r>
              <a:rPr lang="es-MX" dirty="0" err="1">
                <a:latin typeface="Consolas" pitchFamily="49" charset="0"/>
                <a:cs typeface="Consolas" pitchFamily="49" charset="0"/>
              </a:rPr>
              <a:t>lw</a:t>
            </a:r>
            <a:r>
              <a:rPr lang="es-MX" dirty="0">
                <a:latin typeface="Consolas" pitchFamily="49" charset="0"/>
                <a:cs typeface="Consolas" pitchFamily="49" charset="0"/>
              </a:rPr>
              <a:t> $8, dato1($0) 	# cargamos el primer dato en el 					registro $8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s-MX" dirty="0">
                <a:latin typeface="Consolas" pitchFamily="49" charset="0"/>
                <a:cs typeface="Consolas" pitchFamily="49" charset="0"/>
              </a:rPr>
              <a:t>	</a:t>
            </a:r>
            <a:r>
              <a:rPr lang="es-MX" dirty="0" err="1">
                <a:latin typeface="Consolas" pitchFamily="49" charset="0"/>
                <a:cs typeface="Consolas" pitchFamily="49" charset="0"/>
              </a:rPr>
              <a:t>lw</a:t>
            </a:r>
            <a:r>
              <a:rPr lang="es-MX" dirty="0">
                <a:latin typeface="Consolas" pitchFamily="49" charset="0"/>
                <a:cs typeface="Consolas" pitchFamily="49" charset="0"/>
              </a:rPr>
              <a:t> $9, dato2($0)	# cargamos el segundo dato en el 					registro $9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s-MX" dirty="0">
                <a:latin typeface="Consolas" pitchFamily="49" charset="0"/>
                <a:cs typeface="Consolas" pitchFamily="49" charset="0"/>
              </a:rPr>
              <a:t>	</a:t>
            </a:r>
            <a:r>
              <a:rPr lang="es-MX" dirty="0" err="1">
                <a:latin typeface="Consolas" pitchFamily="49" charset="0"/>
                <a:cs typeface="Consolas" pitchFamily="49" charset="0"/>
              </a:rPr>
              <a:t>add</a:t>
            </a:r>
            <a:r>
              <a:rPr lang="es-MX" dirty="0">
                <a:latin typeface="Consolas" pitchFamily="49" charset="0"/>
                <a:cs typeface="Consolas" pitchFamily="49" charset="0"/>
              </a:rPr>
              <a:t> $10, $8, $9	# sumamos los dos registros y el 					resultado lo almacenamos en $10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s-MX" dirty="0">
                <a:latin typeface="Consolas" pitchFamily="49" charset="0"/>
                <a:cs typeface="Consolas" pitchFamily="49" charset="0"/>
              </a:rPr>
              <a:t>	</a:t>
            </a:r>
            <a:r>
              <a:rPr lang="es-MX" dirty="0" err="1">
                <a:latin typeface="Consolas" pitchFamily="49" charset="0"/>
                <a:cs typeface="Consolas" pitchFamily="49" charset="0"/>
              </a:rPr>
              <a:t>sw</a:t>
            </a:r>
            <a:r>
              <a:rPr lang="es-MX" dirty="0">
                <a:latin typeface="Consolas" pitchFamily="49" charset="0"/>
                <a:cs typeface="Consolas" pitchFamily="49" charset="0"/>
              </a:rPr>
              <a:t> $10, sum($0)	# almacenamos el resultado ($10) en 					su variable (sum)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s-MX" dirty="0">
                <a:latin typeface="Consolas" pitchFamily="49" charset="0"/>
                <a:cs typeface="Consolas" pitchFamily="49" charset="0"/>
              </a:rPr>
              <a:t>fin:	li $2, 10		# cargamos </a:t>
            </a:r>
            <a:r>
              <a:rPr lang="es-MX" dirty="0" err="1">
                <a:latin typeface="Consolas" pitchFamily="49" charset="0"/>
                <a:cs typeface="Consolas" pitchFamily="49" charset="0"/>
              </a:rPr>
              <a:t>parametro</a:t>
            </a:r>
            <a:r>
              <a:rPr lang="es-MX" dirty="0">
                <a:latin typeface="Consolas" pitchFamily="49" charset="0"/>
                <a:cs typeface="Consolas" pitchFamily="49" charset="0"/>
              </a:rPr>
              <a:t> necesario para 					terminar programa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s-MX" dirty="0">
                <a:latin typeface="Consolas" pitchFamily="49" charset="0"/>
                <a:cs typeface="Consolas" pitchFamily="49" charset="0"/>
              </a:rPr>
              <a:t>	</a:t>
            </a:r>
            <a:r>
              <a:rPr lang="es-MX" dirty="0" err="1">
                <a:latin typeface="Consolas" pitchFamily="49" charset="0"/>
                <a:cs typeface="Consolas" pitchFamily="49" charset="0"/>
              </a:rPr>
              <a:t>syscall</a:t>
            </a:r>
            <a:r>
              <a:rPr lang="es-MX" dirty="0">
                <a:latin typeface="Consolas" pitchFamily="49" charset="0"/>
                <a:cs typeface="Consolas" pitchFamily="49" charset="0"/>
              </a:rPr>
              <a:t>			# llamada al sistema que termina un 					programa</a:t>
            </a:r>
            <a:endParaRPr lang="es-CL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515696"/>
      </p:ext>
    </p:extLst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5610</TotalTime>
  <Words>775</Words>
  <Application>Microsoft Office PowerPoint</Application>
  <PresentationFormat>Personalizado</PresentationFormat>
  <Paragraphs>84</Paragraphs>
  <Slides>13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Proxima Nova</vt:lpstr>
      <vt:lpstr>Consolas</vt:lpstr>
      <vt:lpstr>Arial</vt:lpstr>
      <vt:lpstr>Spearmint</vt:lpstr>
      <vt:lpstr>INF60500 - Arquitectura de computadores Depto. de Informática y Computación Primer semestre 2019</vt:lpstr>
      <vt:lpstr>Sitio de Descarga y Release.</vt:lpstr>
      <vt:lpstr>Enlaces de interés</vt:lpstr>
      <vt:lpstr>Cartilla MIPS</vt:lpstr>
      <vt:lpstr>Experimentación e Investigación MARS</vt:lpstr>
      <vt:lpstr>Primer programa : Hola Mundo!</vt:lpstr>
      <vt:lpstr>Factorial</vt:lpstr>
      <vt:lpstr>¿Cuál es el programa?</vt:lpstr>
      <vt:lpstr>Revisión minitarea 2</vt:lpstr>
      <vt:lpstr>Revisión minitarea 2</vt:lpstr>
      <vt:lpstr>Revisión minitarea 2</vt:lpstr>
      <vt:lpstr>Revisión minitarea 2</vt:lpstr>
      <vt:lpstr>Ejemplo 1:  Suma de dato1 y dato2 almacenada en la variable sum.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Jorge</dc:creator>
  <cp:lastModifiedBy>Leonardo Javier Bravo Farias</cp:lastModifiedBy>
  <cp:revision>132</cp:revision>
  <dcterms:modified xsi:type="dcterms:W3CDTF">2022-11-29T12:46:55Z</dcterms:modified>
</cp:coreProperties>
</file>