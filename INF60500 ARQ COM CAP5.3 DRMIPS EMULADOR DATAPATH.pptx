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13"/>
  </p:notesMasterIdLst>
  <p:handoutMasterIdLst>
    <p:handoutMasterId r:id="rId14"/>
  </p:handoutMasterIdLst>
  <p:sldIdLst>
    <p:sldId id="256" r:id="rId2"/>
    <p:sldId id="850" r:id="rId3"/>
    <p:sldId id="847" r:id="rId4"/>
    <p:sldId id="851" r:id="rId5"/>
    <p:sldId id="852" r:id="rId6"/>
    <p:sldId id="739" r:id="rId7"/>
    <p:sldId id="711" r:id="rId8"/>
    <p:sldId id="712" r:id="rId9"/>
    <p:sldId id="713" r:id="rId10"/>
    <p:sldId id="714" r:id="rId11"/>
    <p:sldId id="715" r:id="rId12"/>
  </p:sldIdLst>
  <p:sldSz cx="9144000" cy="6859588"/>
  <p:notesSz cx="6858000" cy="9144000"/>
  <p:embeddedFontLst>
    <p:embeddedFont>
      <p:font typeface="Agency FB" panose="020B0503020202020204" pitchFamily="34" charset="0"/>
      <p:regular r:id="rId15"/>
      <p:bold r:id="rId16"/>
    </p:embeddedFont>
    <p:embeddedFont>
      <p:font typeface="Lucida Console" panose="020B0609040504020204" pitchFamily="49" charset="0"/>
      <p:regular r:id="rId17"/>
    </p:embeddedFont>
    <p:embeddedFont>
      <p:font typeface="Proxima Nova" panose="020B0604020202020204" charset="0"/>
      <p:regular r:id="rId18"/>
      <p:bold r:id="rId19"/>
      <p:italic r:id="rId20"/>
      <p:boldItalic r:id="rId21"/>
    </p:embeddedFont>
    <p:embeddedFont>
      <p:font typeface="Tahoma" panose="020B0604030504040204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blo Huijse Heise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1550" y="336"/>
      </p:cViewPr>
      <p:guideLst>
        <p:guide orient="horz" pos="14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EDFD0-0F6B-40B7-BAF1-D0F21640E390}" type="datetimeFigureOut">
              <a:rPr lang="es-ES_tradnl" smtClean="0"/>
              <a:pPr/>
              <a:t>19/07/2021</a:t>
            </a:fld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31AD2-9AA0-4203-B350-026AF9C3BB5C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88889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8500640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463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DEEEDDC9-E789-40CE-8BA2-53E12F8122A8}" type="datetime3">
              <a:rPr lang="en-US"/>
              <a:pPr/>
              <a:t>19 July 2021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1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63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44B802B6-0945-4B3C-A9A5-9D598EC7F981}" type="slidenum">
              <a:rPr lang="en-US"/>
              <a:pPr/>
              <a:t>7</a:t>
            </a:fld>
            <a:endParaRPr lang="en-US"/>
          </a:p>
        </p:txBody>
      </p:sp>
      <p:sp>
        <p:nvSpPr>
          <p:cNvPr id="37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463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7B511936-3CAC-4BF1-B399-A7AAED452AE2}" type="datetime3">
              <a:rPr lang="en-US"/>
              <a:pPr/>
              <a:t>19 July 2021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1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63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FB08F73B-F0DF-42D8-937A-EB09374D171F}" type="slidenum">
              <a:rPr lang="en-US"/>
              <a:pPr/>
              <a:t>8</a:t>
            </a:fld>
            <a:endParaRPr lang="en-US"/>
          </a:p>
        </p:txBody>
      </p:sp>
      <p:sp>
        <p:nvSpPr>
          <p:cNvPr id="45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463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AF0EDEB5-515F-489D-AC08-3208D9BA044A}" type="datetime3">
              <a:rPr lang="en-US"/>
              <a:pPr/>
              <a:t>19 July 2021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1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63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DDFB6DCA-6283-4BA9-A897-33544B265D90}" type="slidenum">
              <a:rPr lang="en-US"/>
              <a:pPr/>
              <a:t>9</a:t>
            </a:fld>
            <a:endParaRPr lang="en-US"/>
          </a:p>
        </p:txBody>
      </p:sp>
      <p:sp>
        <p:nvSpPr>
          <p:cNvPr id="45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463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2534023B-D105-4E68-988A-E7308DBE3B27}" type="datetime3">
              <a:rPr lang="en-US"/>
              <a:pPr/>
              <a:t>19 July 2021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1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63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9B82EABB-6DDD-4509-960F-01626D80D0C8}" type="slidenum">
              <a:rPr lang="en-US"/>
              <a:pPr/>
              <a:t>10</a:t>
            </a:fld>
            <a:endParaRPr lang="en-US"/>
          </a:p>
        </p:txBody>
      </p:sp>
      <p:sp>
        <p:nvSpPr>
          <p:cNvPr id="45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463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AF5E59C8-3C70-44B5-8A47-C729612777E8}" type="datetime3">
              <a:rPr lang="en-US"/>
              <a:pPr/>
              <a:t>19 July 2021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1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63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E02FAC4B-31E0-4857-9192-4AB6DD64B666}" type="slidenum">
              <a:rPr lang="en-US"/>
              <a:pPr/>
              <a:t>11</a:t>
            </a:fld>
            <a:endParaRPr lang="en-US"/>
          </a:p>
        </p:txBody>
      </p:sp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3998459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510450" y="1676788"/>
            <a:ext cx="8123100" cy="211849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10450" y="4244066"/>
            <a:ext cx="8123100" cy="84019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311700" y="593504"/>
            <a:ext cx="8520600" cy="763777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311700" y="1536989"/>
            <a:ext cx="3999900" cy="455625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2"/>
          </p:nvPr>
        </p:nvSpPr>
        <p:spPr>
          <a:xfrm>
            <a:off x="4832400" y="1536989"/>
            <a:ext cx="3999900" cy="455625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311700" y="740972"/>
            <a:ext cx="2808000" cy="1007833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>
            <a:off x="311700" y="1853229"/>
            <a:ext cx="2808000" cy="4240182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311700" y="5650408"/>
            <a:ext cx="5998800" cy="798585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0" y="342979"/>
            <a:ext cx="7772400" cy="11051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838200" y="1753006"/>
            <a:ext cx="3810000" cy="411575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800600" y="1753006"/>
            <a:ext cx="3810000" cy="198165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800600" y="3887100"/>
            <a:ext cx="3810000" cy="198165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324477"/>
            <a:ext cx="19050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477"/>
            <a:ext cx="28956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4F17D-E1CB-489C-8AB6-F37ECE5C48F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0" y="342979"/>
            <a:ext cx="7772400" cy="11051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838200" y="1753006"/>
            <a:ext cx="3810000" cy="411575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800600" y="1753006"/>
            <a:ext cx="3810000" cy="411575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324477"/>
            <a:ext cx="19050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477"/>
            <a:ext cx="28956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E0DB5-56EF-43C1-AAA3-3291A2F27D9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1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Semestre Primavera 2018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4825" y="6238732"/>
            <a:ext cx="2895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AU"/>
              <a:t>EL-4102 Arquitectura de Computadores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Francisco Rivera</a:t>
            </a:r>
          </a:p>
        </p:txBody>
      </p:sp>
    </p:spTree>
    <p:extLst>
      <p:ext uri="{BB962C8B-B14F-4D97-AF65-F5344CB8AC3E}">
        <p14:creationId xmlns:p14="http://schemas.microsoft.com/office/powerpoint/2010/main" val="304733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9158"/>
            <a:ext cx="9144000" cy="1304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311700" y="593504"/>
            <a:ext cx="8520600" cy="763777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311700" y="1536989"/>
            <a:ext cx="8520600" cy="455625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977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306"/>
            <a:ext cx="8229600" cy="13719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659"/>
            <a:ext cx="8229600" cy="38871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44825" y="6238732"/>
            <a:ext cx="2895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EL-4102 Arquitectura de Computadores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615113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9D505-AA16-4AEB-98AB-3946BBDFA0E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323850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Semestre Primavera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83711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Semestre Otoño 2018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4825" y="6238732"/>
            <a:ext cx="2895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AU"/>
              <a:t>El-4102 Arquitectura de Computadores</a:t>
            </a:r>
          </a:p>
        </p:txBody>
      </p:sp>
    </p:spTree>
    <p:extLst>
      <p:ext uri="{BB962C8B-B14F-4D97-AF65-F5344CB8AC3E}">
        <p14:creationId xmlns:p14="http://schemas.microsoft.com/office/powerpoint/2010/main" val="385214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Semestre Otoño 2018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4825" y="6238732"/>
            <a:ext cx="2895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AU"/>
              <a:t>El-4102 Arquitectura de Computadores</a:t>
            </a:r>
          </a:p>
        </p:txBody>
      </p:sp>
    </p:spTree>
    <p:extLst>
      <p:ext uri="{BB962C8B-B14F-4D97-AF65-F5344CB8AC3E}">
        <p14:creationId xmlns:p14="http://schemas.microsoft.com/office/powerpoint/2010/main" val="291224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93504"/>
            <a:ext cx="8520600" cy="76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536989"/>
            <a:ext cx="8520600" cy="455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2" r:id="rId2"/>
    <p:sldLayoutId id="2147483664" r:id="rId3"/>
    <p:sldLayoutId id="2147483667" r:id="rId4"/>
    <p:sldLayoutId id="2147483675" r:id="rId5"/>
    <p:sldLayoutId id="2147483676" r:id="rId6"/>
    <p:sldLayoutId id="2147483678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e.up.pt/" TargetMode="External"/><Relationship Id="rId2" Type="http://schemas.openxmlformats.org/officeDocument/2006/relationships/hyperlink" Target="http://en.wikipedia.org/wiki/MIPS_architecture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brunonova.github.io/drmips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ctrTitle"/>
          </p:nvPr>
        </p:nvSpPr>
        <p:spPr>
          <a:xfrm>
            <a:off x="510450" y="461599"/>
            <a:ext cx="8123100" cy="2118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s-ES_tradnl" b="1" dirty="0">
                <a:solidFill>
                  <a:srgbClr val="B7ECFF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INF60500 - </a:t>
            </a:r>
            <a:r>
              <a:rPr lang="es-MX" sz="3600" b="1" dirty="0">
                <a:solidFill>
                  <a:srgbClr val="B7ECFF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ARQUITECTURA DE COMPUTADORES</a:t>
            </a:r>
            <a:br>
              <a:rPr lang="es-MX" b="1" dirty="0">
                <a:solidFill>
                  <a:srgbClr val="B7ECFF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</a:br>
            <a:r>
              <a:rPr lang="es-MX" sz="2800" b="1" dirty="0">
                <a:solidFill>
                  <a:srgbClr val="B7ECFF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Depto. de Informática y Computación</a:t>
            </a:r>
            <a:br>
              <a:rPr lang="es-MX" sz="2800" b="1" dirty="0">
                <a:solidFill>
                  <a:srgbClr val="B7ECFF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</a:br>
            <a:r>
              <a:rPr lang="es-MX" sz="2800" b="1" dirty="0">
                <a:solidFill>
                  <a:srgbClr val="B7ECFF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Primer semestre 2020</a:t>
            </a:r>
            <a:endParaRPr sz="2800" b="1" dirty="0">
              <a:solidFill>
                <a:srgbClr val="B7ECFF"/>
              </a:solidFill>
              <a:latin typeface="Arial" pitchFamily="34" charset="0"/>
              <a:ea typeface="Tahoma" pitchFamily="34" charset="0"/>
              <a:cs typeface="Arial" pitchFamily="34" charset="0"/>
            </a:endParaRPr>
          </a:p>
        </p:txBody>
      </p:sp>
      <p:sp>
        <p:nvSpPr>
          <p:cNvPr id="106" name="Google Shape;106;p25"/>
          <p:cNvSpPr txBox="1">
            <a:spLocks noGrp="1"/>
          </p:cNvSpPr>
          <p:nvPr>
            <p:ph type="subTitle" idx="1"/>
          </p:nvPr>
        </p:nvSpPr>
        <p:spPr>
          <a:xfrm>
            <a:off x="535602" y="3381687"/>
            <a:ext cx="8123100" cy="1344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" dirty="0">
                <a:latin typeface="Tahoma" pitchFamily="34" charset="0"/>
                <a:ea typeface="Tahoma" pitchFamily="34" charset="0"/>
                <a:cs typeface="Tahoma" pitchFamily="34" charset="0"/>
              </a:rPr>
              <a:t>CAP5.1 : </a:t>
            </a:r>
            <a:r>
              <a:rPr lang="es-CL" dirty="0"/>
              <a:t>DR MIPS emulador para DATAPTH</a:t>
            </a: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Profesor:   Leonardo Bravo</a:t>
            </a:r>
            <a:endParaRPr dirty="0"/>
          </a:p>
        </p:txBody>
      </p:sp>
      <p:cxnSp>
        <p:nvCxnSpPr>
          <p:cNvPr id="108" name="Google Shape;108;p25"/>
          <p:cNvCxnSpPr/>
          <p:nvPr/>
        </p:nvCxnSpPr>
        <p:spPr>
          <a:xfrm>
            <a:off x="615150" y="3998292"/>
            <a:ext cx="50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 descr="C:\Users\Atila1\Desktop\UTEM\Logo_UTEM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870" y="4848024"/>
            <a:ext cx="1508324" cy="201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s-CL"/>
          </a:p>
        </p:txBody>
      </p:sp>
      <p:grpSp>
        <p:nvGrpSpPr>
          <p:cNvPr id="7" name="6 Grupo"/>
          <p:cNvGrpSpPr/>
          <p:nvPr/>
        </p:nvGrpSpPr>
        <p:grpSpPr>
          <a:xfrm>
            <a:off x="2267744" y="2709714"/>
            <a:ext cx="4601938" cy="1200329"/>
            <a:chOff x="1914278" y="2372981"/>
            <a:chExt cx="4601938" cy="1200329"/>
          </a:xfrm>
        </p:grpSpPr>
        <p:sp>
          <p:nvSpPr>
            <p:cNvPr id="5" name="4 CuadroTexto"/>
            <p:cNvSpPr txBox="1"/>
            <p:nvPr/>
          </p:nvSpPr>
          <p:spPr>
            <a:xfrm>
              <a:off x="1914278" y="2372981"/>
              <a:ext cx="4601938" cy="120032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s-MX" sz="2400" b="1" dirty="0">
                <a:solidFill>
                  <a:srgbClr val="FFFFFF"/>
                </a:solidFill>
                <a:latin typeface="Agency FB" pitchFamily="34" charset="0"/>
              </a:endParaRPr>
            </a:p>
            <a:p>
              <a:r>
                <a:rPr lang="es-MX" sz="2400" b="1" dirty="0">
                  <a:solidFill>
                    <a:schemeClr val="tx1"/>
                  </a:solidFill>
                  <a:latin typeface="Agency FB" pitchFamily="34" charset="0"/>
                </a:rPr>
                <a:t>	DR MIPS</a:t>
              </a:r>
            </a:p>
            <a:p>
              <a:pPr marL="342900" indent="-342900" algn="ctr">
                <a:buFontTx/>
                <a:buChar char="-"/>
              </a:pPr>
              <a:endParaRPr lang="es-MX" sz="2400" b="1" dirty="0">
                <a:solidFill>
                  <a:srgbClr val="FFFFFF"/>
                </a:solidFill>
                <a:latin typeface="Agency FB" pitchFamily="34" charset="0"/>
              </a:endParaRPr>
            </a:p>
          </p:txBody>
        </p:sp>
        <p:pic>
          <p:nvPicPr>
            <p:cNvPr id="6" name="Imagen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3436" y="2493690"/>
              <a:ext cx="820772" cy="10259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97C6D2D-E267-494B-97DD-6783DAE10CA4}"/>
              </a:ext>
            </a:extLst>
          </p:cNvPr>
          <p:cNvSpPr/>
          <p:nvPr/>
        </p:nvSpPr>
        <p:spPr>
          <a:xfrm>
            <a:off x="251520" y="405458"/>
            <a:ext cx="849694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MX" sz="2400" b="1" dirty="0">
                <a:solidFill>
                  <a:srgbClr val="222222"/>
                </a:solidFill>
                <a:latin typeface="+mn-lt"/>
              </a:rPr>
              <a:t>Sobre DrMIPS		</a:t>
            </a:r>
          </a:p>
          <a:p>
            <a:pPr algn="just" fontAlgn="base"/>
            <a:endParaRPr lang="es-MX" sz="2400" dirty="0">
              <a:solidFill>
                <a:srgbClr val="373737"/>
              </a:solidFill>
              <a:latin typeface="+mn-lt"/>
            </a:endParaRPr>
          </a:p>
          <a:p>
            <a:pPr algn="just" fontAlgn="base"/>
            <a:r>
              <a:rPr lang="es-MX" sz="2400" dirty="0">
                <a:solidFill>
                  <a:srgbClr val="373737"/>
                </a:solidFill>
                <a:latin typeface="+mn-lt"/>
              </a:rPr>
              <a:t>DrMIPS es un simulador gráfico del procesador </a:t>
            </a:r>
            <a:r>
              <a:rPr lang="es-MX" sz="2400" dirty="0">
                <a:solidFill>
                  <a:srgbClr val="007EDF"/>
                </a:solidFill>
                <a:latin typeface="+mn-lt"/>
                <a:hlinkClick r:id="rId2" tooltip="Arquitectura MIPS - Wikipedia"/>
              </a:rPr>
              <a:t>MIPS</a:t>
            </a:r>
            <a:r>
              <a:rPr lang="es-MX" sz="2400" dirty="0">
                <a:solidFill>
                  <a:srgbClr val="373737"/>
                </a:solidFill>
                <a:latin typeface="+mn-lt"/>
              </a:rPr>
              <a:t> para admitir la enseñanza y el aprendizaje de la arquitectura informática. Es intuitivo, versátil y configurable.</a:t>
            </a:r>
          </a:p>
          <a:p>
            <a:pPr algn="just" fontAlgn="base"/>
            <a:r>
              <a:rPr lang="es-MX" sz="2400" dirty="0">
                <a:solidFill>
                  <a:srgbClr val="373737"/>
                </a:solidFill>
                <a:latin typeface="+mn-lt"/>
              </a:rPr>
              <a:t>El simulador está disponible no solo para computadoras personales sino también para dispositivos Android, especialmente tabletas.</a:t>
            </a:r>
          </a:p>
          <a:p>
            <a:pPr algn="just" fontAlgn="base"/>
            <a:r>
              <a:rPr lang="es-MX" sz="2400" dirty="0">
                <a:solidFill>
                  <a:srgbClr val="373737"/>
                </a:solidFill>
                <a:latin typeface="+mn-lt"/>
              </a:rPr>
              <a:t>DrMIPS fue creado bajo la tesis de maestría titulada ”</a:t>
            </a:r>
            <a:r>
              <a:rPr lang="es-MX" sz="2400" i="1" dirty="0">
                <a:solidFill>
                  <a:srgbClr val="373737"/>
                </a:solidFill>
                <a:latin typeface="+mn-lt"/>
              </a:rPr>
              <a:t>Herramienta para apoyar la enseñanza y el aprendizaje de la arquitectura de computadoras</a:t>
            </a:r>
            <a:r>
              <a:rPr lang="es-MX" sz="2400" dirty="0">
                <a:solidFill>
                  <a:srgbClr val="373737"/>
                </a:solidFill>
                <a:latin typeface="+mn-lt"/>
              </a:rPr>
              <a:t> en </a:t>
            </a:r>
            <a:r>
              <a:rPr lang="es-MX" sz="2400" dirty="0">
                <a:solidFill>
                  <a:srgbClr val="007EDF"/>
                </a:solidFill>
                <a:latin typeface="+mn-lt"/>
                <a:hlinkClick r:id="rId3" tooltip="Facultad de Ingeniería de la Universidad del Oporto"/>
              </a:rPr>
              <a:t>FEUP</a:t>
            </a:r>
            <a:r>
              <a:rPr lang="es-MX" sz="2400" dirty="0">
                <a:solidFill>
                  <a:srgbClr val="007EDF"/>
                </a:solidFill>
                <a:latin typeface="+mn-lt"/>
              </a:rPr>
              <a:t>”</a:t>
            </a:r>
            <a:r>
              <a:rPr lang="es-MX" sz="2400" dirty="0">
                <a:solidFill>
                  <a:srgbClr val="373737"/>
                </a:solidFill>
                <a:latin typeface="+mn-lt"/>
              </a:rPr>
              <a:t> 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3D05EC-E0B7-4AFC-809D-4511BC969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3" y="4941962"/>
            <a:ext cx="3093385" cy="115212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7DDEF72-13C7-4328-9E06-F9641B5B4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12" y="5148694"/>
            <a:ext cx="4608512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https://brunonova.github.io/drmips/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7375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9FE74D4-1C8C-4EE5-B798-DD837B7322D6}"/>
              </a:ext>
            </a:extLst>
          </p:cNvPr>
          <p:cNvSpPr/>
          <p:nvPr/>
        </p:nvSpPr>
        <p:spPr>
          <a:xfrm>
            <a:off x="179512" y="305862"/>
            <a:ext cx="8568952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MX" sz="2000" b="1" dirty="0" err="1">
                <a:solidFill>
                  <a:srgbClr val="222222"/>
                </a:solidFill>
                <a:latin typeface="+mn-lt"/>
              </a:rPr>
              <a:t>Caracteristicas</a:t>
            </a:r>
            <a:endParaRPr lang="es-MX" sz="2000" b="1" dirty="0">
              <a:solidFill>
                <a:srgbClr val="222222"/>
              </a:solidFill>
              <a:latin typeface="+mn-lt"/>
            </a:endParaRP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Gratis y de código abierto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Disponible tanto para PC como para dispositivos Android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Puede simular versiones de monociclo y tubería del procesador MIPS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Ruta de datos visualizada gráficamente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Ejecución paso a paso y paso atrás.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Editar registros y memoria de datos durante la ejecución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Modo de rendimiento, donde se simulan las latencias y se muestra la ruta crítica del procesador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Trayectorias de datos y conjuntos de instrucciones altamente configurables, y se pueden crear otras adicionales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Los componentes personalizados pueden crearse externamente y luego ser utilizados por el simulador en tiempo de ejecución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Bastante intuitivo y fácil de usar.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Editor de código integrado, con resaltado de sintaxis y autocompletado en la versión para PC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Los valores se pueden mostrar en binario, decimal o hexadecimal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Temas claros y oscuros</a:t>
            </a:r>
          </a:p>
          <a:p>
            <a:pPr marL="182563" indent="350838" algn="just" fontAlgn="base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rgbClr val="373737"/>
                </a:solidFill>
                <a:latin typeface="+mn-lt"/>
              </a:rPr>
              <a:t>Los paneles del simulador se pueden mostrar como pestañas o ventanas en la versión para PC</a:t>
            </a:r>
          </a:p>
        </p:txBody>
      </p:sp>
    </p:spTree>
    <p:extLst>
      <p:ext uri="{BB962C8B-B14F-4D97-AF65-F5344CB8AC3E}">
        <p14:creationId xmlns:p14="http://schemas.microsoft.com/office/powerpoint/2010/main" val="397528832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E774BD2-DF0A-4814-9B25-8842DEEE6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-98598"/>
            <a:ext cx="8981266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2107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>
            <a:spLocks noGrp="1"/>
          </p:cNvSpPr>
          <p:nvPr>
            <p:ph type="subTitle" idx="1"/>
          </p:nvPr>
        </p:nvSpPr>
        <p:spPr>
          <a:xfrm>
            <a:off x="81806" y="1922286"/>
            <a:ext cx="8980388" cy="20115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CL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Laboratorio2</a:t>
            </a:r>
          </a:p>
          <a:p>
            <a:pPr algn="ctr"/>
            <a:r>
              <a:rPr lang="es-CL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Práctica Assembler con estándar MIPS</a:t>
            </a:r>
          </a:p>
          <a:p>
            <a:pPr algn="ctr"/>
            <a:r>
              <a:rPr lang="es-CL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con el simulador </a:t>
            </a:r>
            <a:r>
              <a:rPr lang="es-CL" sz="2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DrMIPs</a:t>
            </a:r>
            <a:r>
              <a:rPr lang="es-CL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 y </a:t>
            </a:r>
          </a:p>
          <a:p>
            <a:pPr algn="ctr"/>
            <a:r>
              <a:rPr lang="es-CL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su Set de instrucciones (ISA)</a:t>
            </a:r>
            <a:endParaRPr lang="es-AR" sz="2800" dirty="0"/>
          </a:p>
          <a:p>
            <a:pPr algn="ctr"/>
            <a:endParaRPr lang="en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26" name="Picture 2" descr="C:\Users\Atila1\Desktop\UTEM\Logo_UTEM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870" y="4848024"/>
            <a:ext cx="1508324" cy="201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Algoritmo</a:t>
            </a:r>
            <a:r>
              <a:rPr lang="en-US" b="1" dirty="0"/>
              <a:t> de </a:t>
            </a:r>
            <a:r>
              <a:rPr lang="en-US" b="1" dirty="0" err="1"/>
              <a:t>Ordenamiento</a:t>
            </a:r>
            <a:r>
              <a:rPr lang="en-US" b="1" dirty="0"/>
              <a:t> </a:t>
            </a:r>
            <a:r>
              <a:rPr lang="es-CL" b="1" dirty="0"/>
              <a:t>en C usando swap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700" y="1536989"/>
            <a:ext cx="8520600" cy="48451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CL" dirty="0">
                <a:latin typeface="Proxima Nova" charset="0"/>
              </a:rPr>
              <a:t>Uso de instrucciones del lenguaje </a:t>
            </a:r>
            <a:r>
              <a:rPr lang="en-US" dirty="0">
                <a:latin typeface="Proxima Nova" charset="0"/>
              </a:rPr>
              <a:t>assembler </a:t>
            </a:r>
            <a:r>
              <a:rPr lang="es-CL" dirty="0">
                <a:latin typeface="Proxima Nova" charset="0"/>
              </a:rPr>
              <a:t>para una parte de la función </a:t>
            </a:r>
            <a:r>
              <a:rPr lang="en-US" dirty="0">
                <a:latin typeface="Proxima Nova" charset="0"/>
              </a:rPr>
              <a:t>sort </a:t>
            </a:r>
            <a:r>
              <a:rPr lang="es-CL" dirty="0">
                <a:latin typeface="Proxima Nova" charset="0"/>
              </a:rPr>
              <a:t>en</a:t>
            </a:r>
            <a:r>
              <a:rPr lang="en-US" dirty="0">
                <a:latin typeface="Proxima Nova" charset="0"/>
              </a:rPr>
              <a:t> C.</a:t>
            </a:r>
          </a:p>
          <a:p>
            <a:pPr>
              <a:lnSpc>
                <a:spcPct val="150000"/>
              </a:lnSpc>
            </a:pPr>
            <a:r>
              <a:rPr lang="es-CL" dirty="0">
                <a:latin typeface="Proxima Nova" charset="0"/>
              </a:rPr>
              <a:t>Procedimiento</a:t>
            </a:r>
            <a:r>
              <a:rPr lang="en-US" dirty="0">
                <a:latin typeface="Proxima Nova" charset="0"/>
              </a:rPr>
              <a:t> Swap  (</a:t>
            </a:r>
            <a:r>
              <a:rPr lang="en-US" dirty="0" err="1">
                <a:latin typeface="Proxima Nova" charset="0"/>
              </a:rPr>
              <a:t>procedimiento</a:t>
            </a:r>
            <a:r>
              <a:rPr lang="en-US" dirty="0">
                <a:latin typeface="Proxima Nova" charset="0"/>
              </a:rPr>
              <a:t> HOJA)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latin typeface="Proxima Nova" charset="0"/>
              </a:rPr>
              <a:t>	</a:t>
            </a: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void swap(int v[ ], int k)</a:t>
            </a:r>
            <a:br>
              <a:rPr lang="en-US" sz="1800" dirty="0">
                <a:solidFill>
                  <a:srgbClr val="00B0F0"/>
                </a:solidFill>
                <a:latin typeface="Proxima Nova" charset="0"/>
              </a:rPr>
            </a:b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{</a:t>
            </a:r>
            <a:br>
              <a:rPr lang="en-US" sz="1800" dirty="0">
                <a:solidFill>
                  <a:srgbClr val="00B0F0"/>
                </a:solidFill>
                <a:latin typeface="Proxima Nova" charset="0"/>
              </a:rPr>
            </a:b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  int temp;</a:t>
            </a:r>
            <a:br>
              <a:rPr lang="en-US" sz="1800" dirty="0">
                <a:solidFill>
                  <a:srgbClr val="00B0F0"/>
                </a:solidFill>
                <a:latin typeface="Proxima Nova" charset="0"/>
              </a:rPr>
            </a:b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  temp = v[k];</a:t>
            </a:r>
            <a:br>
              <a:rPr lang="en-US" sz="1800" dirty="0">
                <a:solidFill>
                  <a:srgbClr val="00B0F0"/>
                </a:solidFill>
                <a:latin typeface="Proxima Nova" charset="0"/>
              </a:rPr>
            </a:b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  v[k] = v[k+1];</a:t>
            </a:r>
            <a:br>
              <a:rPr lang="en-US" sz="1800" dirty="0">
                <a:solidFill>
                  <a:srgbClr val="00B0F0"/>
                </a:solidFill>
                <a:latin typeface="Proxima Nova" charset="0"/>
              </a:rPr>
            </a:b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  v[k+1] = temp;</a:t>
            </a:r>
            <a:br>
              <a:rPr lang="en-US" sz="1800" dirty="0">
                <a:solidFill>
                  <a:srgbClr val="00B0F0"/>
                </a:solidFill>
                <a:latin typeface="Proxima Nova" charset="0"/>
              </a:rPr>
            </a:b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}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Proxima Nova" charset="0"/>
              </a:rPr>
              <a:t>v </a:t>
            </a:r>
            <a:r>
              <a:rPr lang="es-CL" sz="1800" dirty="0">
                <a:latin typeface="Proxima Nova" charset="0"/>
              </a:rPr>
              <a:t>en</a:t>
            </a:r>
            <a:r>
              <a:rPr lang="en-US" sz="1800" dirty="0">
                <a:latin typeface="Proxima Nova" charset="0"/>
              </a:rPr>
              <a:t> $a0, k </a:t>
            </a:r>
            <a:r>
              <a:rPr lang="es-CL" sz="1800" dirty="0">
                <a:latin typeface="Proxima Nova" charset="0"/>
              </a:rPr>
              <a:t>en</a:t>
            </a:r>
            <a:r>
              <a:rPr lang="en-US" sz="1800" dirty="0">
                <a:latin typeface="Proxima Nova" charset="0"/>
              </a:rPr>
              <a:t> $a1, temp </a:t>
            </a:r>
            <a:r>
              <a:rPr lang="es-CL" sz="1800" dirty="0">
                <a:latin typeface="Proxima Nova" charset="0"/>
              </a:rPr>
              <a:t>en</a:t>
            </a:r>
            <a:r>
              <a:rPr lang="en-US" sz="1800" dirty="0">
                <a:latin typeface="Proxima Nova" charset="0"/>
              </a:rPr>
              <a:t> $t0</a:t>
            </a:r>
          </a:p>
        </p:txBody>
      </p:sp>
    </p:spTree>
    <p:extLst>
      <p:ext uri="{BB962C8B-B14F-4D97-AF65-F5344CB8AC3E}">
        <p14:creationId xmlns:p14="http://schemas.microsoft.com/office/powerpoint/2010/main" val="2018092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00" y="593504"/>
            <a:ext cx="8520600" cy="1612154"/>
          </a:xfrm>
        </p:spPr>
        <p:txBody>
          <a:bodyPr/>
          <a:lstStyle/>
          <a:p>
            <a:r>
              <a:rPr lang="en-AU" b="1" dirty="0"/>
              <a:t>Etapa1 : </a:t>
            </a:r>
            <a:br>
              <a:rPr lang="en-AU" b="1" dirty="0"/>
            </a:br>
            <a:r>
              <a:rPr lang="en-AU" b="1" dirty="0" err="1"/>
              <a:t>Construir</a:t>
            </a:r>
            <a:r>
              <a:rPr lang="en-AU" b="1" dirty="0"/>
              <a:t> el </a:t>
            </a:r>
            <a:r>
              <a:rPr lang="en-AU" b="1" dirty="0" err="1"/>
              <a:t>procedimiento</a:t>
            </a:r>
            <a:r>
              <a:rPr lang="en-AU" b="1" dirty="0"/>
              <a:t> SWAP </a:t>
            </a:r>
            <a:r>
              <a:rPr lang="en-AU" b="1" dirty="0" err="1"/>
              <a:t>utilizando</a:t>
            </a:r>
            <a:r>
              <a:rPr lang="en-AU" b="1" dirty="0"/>
              <a:t> las </a:t>
            </a:r>
            <a:r>
              <a:rPr lang="en-AU" b="1" dirty="0" err="1"/>
              <a:t>instrucciones</a:t>
            </a:r>
            <a:r>
              <a:rPr lang="en-AU" b="1" dirty="0"/>
              <a:t> que </a:t>
            </a:r>
            <a:r>
              <a:rPr lang="en-AU" b="1" dirty="0" err="1"/>
              <a:t>soporta</a:t>
            </a:r>
            <a:r>
              <a:rPr lang="en-AU" b="1" dirty="0"/>
              <a:t> DrMIPS.</a:t>
            </a:r>
            <a:br>
              <a:rPr lang="en-AU" b="1" dirty="0"/>
            </a:br>
            <a:endParaRPr lang="en-AU" b="1" dirty="0"/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700" y="2689117"/>
            <a:ext cx="8520600" cy="290091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swap: sll $t1, $a1, 2   # $t1 = k * 4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      add $t1, $a0, $t1 # $t1 = v+(k*4)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                        #   (</a:t>
            </a:r>
            <a:r>
              <a:rPr lang="es-CL" sz="2000" dirty="0">
                <a:latin typeface="Lucida Console" pitchFamily="49" charset="0"/>
              </a:rPr>
              <a:t>dirección</a:t>
            </a:r>
            <a:r>
              <a:rPr lang="en-AU" sz="2000" dirty="0">
                <a:latin typeface="Lucida Console" pitchFamily="49" charset="0"/>
              </a:rPr>
              <a:t> de v[k])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      lw $t0, 0($t1)    # $t0 (temp) = v[k]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      lw $t2, 4($t1)    # $t2 = v[k+1]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      sw $t2, 0($t1)    # v[k] = $t2 (v[k+1])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      sw $t0, 4($t1)    # v[k+1] = $t0 (temp)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2000" dirty="0">
                <a:latin typeface="Lucida Console" pitchFamily="49" charset="0"/>
              </a:rPr>
              <a:t>      jr $ra            # </a:t>
            </a:r>
            <a:r>
              <a:rPr lang="es-CL" sz="2000" dirty="0">
                <a:latin typeface="Lucida Console" pitchFamily="49" charset="0"/>
              </a:rPr>
              <a:t>retorna a rutina llamante</a:t>
            </a:r>
          </a:p>
        </p:txBody>
      </p:sp>
    </p:spTree>
    <p:extLst>
      <p:ext uri="{BB962C8B-B14F-4D97-AF65-F5344CB8AC3E}">
        <p14:creationId xmlns:p14="http://schemas.microsoft.com/office/powerpoint/2010/main" val="36935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00" y="117426"/>
            <a:ext cx="8520600" cy="1224136"/>
          </a:xfrm>
        </p:spPr>
        <p:txBody>
          <a:bodyPr/>
          <a:lstStyle/>
          <a:p>
            <a:r>
              <a:rPr lang="es-CL" b="1" dirty="0"/>
              <a:t>El procedimiento de ordenamiento </a:t>
            </a:r>
            <a:r>
              <a:rPr lang="en-AU" b="1" dirty="0" err="1"/>
              <a:t>en</a:t>
            </a:r>
            <a:r>
              <a:rPr lang="en-AU" b="1" dirty="0"/>
              <a:t> C con swap </a:t>
            </a:r>
            <a:r>
              <a:rPr lang="en-AU" b="1" dirty="0" err="1"/>
              <a:t>incorporado</a:t>
            </a:r>
            <a:r>
              <a:rPr lang="en-AU" b="1" dirty="0"/>
              <a:t>.</a:t>
            </a:r>
            <a:endParaRPr lang="en-AU" dirty="0"/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700" y="1465827"/>
            <a:ext cx="8520600" cy="52763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>
                <a:latin typeface="Proxima Nova" charset="0"/>
              </a:rPr>
              <a:t>Procedimiento</a:t>
            </a:r>
            <a:r>
              <a:rPr lang="en-US" dirty="0">
                <a:latin typeface="Proxima Nova" charset="0"/>
              </a:rPr>
              <a:t> que llama a swap (No HOJA)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latin typeface="Proxima Nova" charset="0"/>
              </a:rPr>
              <a:t>	</a:t>
            </a: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void sort (int v[], int n)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{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  int i, j;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  for (i = 0; i &lt; n; i += 1) {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    for (j = i – 1; j &gt;= 0 &amp;&amp; v[j] &gt; v[j + 1]; j -= 1)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     {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      </a:t>
            </a:r>
            <a:r>
              <a:rPr lang="en-US" sz="2000" dirty="0">
                <a:solidFill>
                  <a:srgbClr val="FF0000"/>
                </a:solidFill>
                <a:latin typeface="Proxima Nova" charset="0"/>
              </a:rPr>
              <a:t>swap(v, j)</a:t>
            </a:r>
            <a:r>
              <a:rPr lang="en-US" sz="2000" dirty="0">
                <a:solidFill>
                  <a:srgbClr val="00B0F0"/>
                </a:solidFill>
                <a:latin typeface="Proxima Nova" charset="0"/>
              </a:rPr>
              <a:t>;</a:t>
            </a:r>
            <a:endParaRPr lang="en-US" sz="1800" dirty="0">
              <a:solidFill>
                <a:srgbClr val="00B0F0"/>
              </a:solidFill>
              <a:latin typeface="Proxima Nova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    }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  }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dirty="0">
                <a:solidFill>
                  <a:srgbClr val="00B0F0"/>
                </a:solidFill>
                <a:latin typeface="Proxima Nova" charset="0"/>
              </a:rPr>
              <a:t>	}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Proxima Nova" charset="0"/>
              </a:rPr>
              <a:t>v en $a0, n en $a1, </a:t>
            </a:r>
            <a:r>
              <a:rPr lang="en-US" sz="1800" dirty="0" err="1">
                <a:latin typeface="Proxima Nova" charset="0"/>
              </a:rPr>
              <a:t>i</a:t>
            </a:r>
            <a:r>
              <a:rPr lang="en-US" sz="1800" dirty="0">
                <a:latin typeface="Proxima Nova" charset="0"/>
              </a:rPr>
              <a:t> en $s0, j en $s1</a:t>
            </a:r>
            <a:endParaRPr lang="en-AU" sz="1800" dirty="0">
              <a:latin typeface="Proxima No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856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00" y="117426"/>
            <a:ext cx="8520600" cy="763777"/>
          </a:xfrm>
        </p:spPr>
        <p:txBody>
          <a:bodyPr/>
          <a:lstStyle/>
          <a:p>
            <a:r>
              <a:rPr lang="es-CL" b="1" dirty="0"/>
              <a:t>El Cuerpo del Procedimiento</a:t>
            </a:r>
          </a:p>
        </p:txBody>
      </p:sp>
      <p:sp>
        <p:nvSpPr>
          <p:cNvPr id="4587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496" y="765498"/>
            <a:ext cx="8520600" cy="5904656"/>
          </a:xfrm>
          <a:noFill/>
          <a:ln/>
        </p:spPr>
        <p:txBody>
          <a:bodyPr/>
          <a:lstStyle/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move $s2, $a0           # </a:t>
            </a:r>
            <a:r>
              <a:rPr lang="es-CL" sz="1400" dirty="0">
                <a:latin typeface="Lucida Console" pitchFamily="49" charset="0"/>
              </a:rPr>
              <a:t>guarda</a:t>
            </a:r>
            <a:r>
              <a:rPr lang="en-AU" sz="1400" dirty="0">
                <a:latin typeface="Lucida Console" pitchFamily="49" charset="0"/>
              </a:rPr>
              <a:t> $a0 en $s2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move $s3, $a1           # </a:t>
            </a:r>
            <a:r>
              <a:rPr lang="es-CL" sz="1400" dirty="0">
                <a:latin typeface="Lucida Console" pitchFamily="49" charset="0"/>
              </a:rPr>
              <a:t>guarda</a:t>
            </a:r>
            <a:r>
              <a:rPr lang="en-AU" sz="1400" dirty="0">
                <a:latin typeface="Lucida Console" pitchFamily="49" charset="0"/>
              </a:rPr>
              <a:t> $a1 en $s3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move $s0, $zero         # i = 0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for1tst: slt  $t0, $s0, $s3      # $t0 = 0 </a:t>
            </a:r>
            <a:r>
              <a:rPr lang="es-CL" sz="1400" dirty="0">
                <a:latin typeface="Lucida Console" pitchFamily="49" charset="0"/>
              </a:rPr>
              <a:t>si</a:t>
            </a:r>
            <a:r>
              <a:rPr lang="en-AU" sz="1400" dirty="0">
                <a:latin typeface="Lucida Console" pitchFamily="49" charset="0"/>
              </a:rPr>
              <a:t> $s0 ≥ $s3 (i ≥ n)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beq  $t0, $zero, exit1  # </a:t>
            </a:r>
            <a:r>
              <a:rPr lang="es-CL" sz="1400" dirty="0">
                <a:latin typeface="Lucida Console" pitchFamily="49" charset="0"/>
              </a:rPr>
              <a:t>ir a</a:t>
            </a:r>
            <a:r>
              <a:rPr lang="en-AU" sz="1400" dirty="0">
                <a:latin typeface="Lucida Console" pitchFamily="49" charset="0"/>
              </a:rPr>
              <a:t> exit1 </a:t>
            </a:r>
            <a:r>
              <a:rPr lang="es-CL" sz="1400" dirty="0">
                <a:latin typeface="Lucida Console" pitchFamily="49" charset="0"/>
              </a:rPr>
              <a:t>si</a:t>
            </a:r>
            <a:r>
              <a:rPr lang="en-AU" sz="1400" dirty="0">
                <a:latin typeface="Lucida Console" pitchFamily="49" charset="0"/>
              </a:rPr>
              <a:t> $s0 ≥ $s3 (i ≥ n)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addi $s1, $s0, –1       # j = i – 1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for2tst: slti $t0, $s1, 0        # $t0 = 1 </a:t>
            </a:r>
            <a:r>
              <a:rPr lang="es-CL" sz="1400" dirty="0">
                <a:latin typeface="Lucida Console" pitchFamily="49" charset="0"/>
              </a:rPr>
              <a:t>si</a:t>
            </a:r>
            <a:r>
              <a:rPr lang="en-AU" sz="1400" dirty="0">
                <a:latin typeface="Lucida Console" pitchFamily="49" charset="0"/>
              </a:rPr>
              <a:t> $s1 &lt; 0 (j &lt; 0)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bne  $t0, $zero, exit2  # </a:t>
            </a:r>
            <a:r>
              <a:rPr lang="es-CL" sz="1400" dirty="0">
                <a:latin typeface="Lucida Console" pitchFamily="49" charset="0"/>
              </a:rPr>
              <a:t>ir a</a:t>
            </a:r>
            <a:r>
              <a:rPr lang="en-AU" sz="1400" dirty="0">
                <a:latin typeface="Lucida Console" pitchFamily="49" charset="0"/>
              </a:rPr>
              <a:t> exit2 </a:t>
            </a:r>
            <a:r>
              <a:rPr lang="es-CL" sz="1400" dirty="0">
                <a:latin typeface="Lucida Console" pitchFamily="49" charset="0"/>
              </a:rPr>
              <a:t>si</a:t>
            </a:r>
            <a:r>
              <a:rPr lang="en-AU" sz="1400" dirty="0">
                <a:latin typeface="Lucida Console" pitchFamily="49" charset="0"/>
              </a:rPr>
              <a:t> $s1 &lt; 0 (j &lt; 0)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sll  $t1, $s1, 2        # $t1 = j * 4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add  $t2, $s2, $t1      # $t2 = v + (j * 4)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lw   $t3, 0($t2)        # $t3 = v[j]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lw   $t4, 4($t2)        # $t4 = v[j + 1]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slt  $t0, $t4, $t3      # $t0 = 0 </a:t>
            </a:r>
            <a:r>
              <a:rPr lang="es-CL" sz="1400" dirty="0">
                <a:latin typeface="Lucida Console" pitchFamily="49" charset="0"/>
              </a:rPr>
              <a:t>si</a:t>
            </a:r>
            <a:r>
              <a:rPr lang="en-AU" sz="1400" dirty="0">
                <a:latin typeface="Lucida Console" pitchFamily="49" charset="0"/>
              </a:rPr>
              <a:t> $t4 ≥ $t3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beq  $t0, $zero, exit2  # </a:t>
            </a:r>
            <a:r>
              <a:rPr lang="es-CL" sz="1400" dirty="0">
                <a:latin typeface="Lucida Console" pitchFamily="49" charset="0"/>
              </a:rPr>
              <a:t>ir a </a:t>
            </a:r>
            <a:r>
              <a:rPr lang="en-AU" sz="1400" dirty="0">
                <a:latin typeface="Lucida Console" pitchFamily="49" charset="0"/>
              </a:rPr>
              <a:t>exit2 if $t4 ≥ $t3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move $a0, $s2           # 1er </a:t>
            </a:r>
            <a:r>
              <a:rPr lang="es-CL" sz="1400" dirty="0">
                <a:latin typeface="Lucida Console" pitchFamily="49" charset="0"/>
              </a:rPr>
              <a:t>parámetro de </a:t>
            </a:r>
            <a:r>
              <a:rPr lang="en-AU" sz="1400" dirty="0">
                <a:latin typeface="Lucida Console" pitchFamily="49" charset="0"/>
              </a:rPr>
              <a:t>swap </a:t>
            </a:r>
            <a:r>
              <a:rPr lang="es-CL" sz="1400" dirty="0">
                <a:latin typeface="Lucida Console" pitchFamily="49" charset="0"/>
              </a:rPr>
              <a:t>es</a:t>
            </a:r>
            <a:r>
              <a:rPr lang="en-AU" sz="1400" dirty="0">
                <a:latin typeface="Lucida Console" pitchFamily="49" charset="0"/>
              </a:rPr>
              <a:t> v (</a:t>
            </a:r>
            <a:r>
              <a:rPr lang="es-CL" sz="1400" dirty="0">
                <a:latin typeface="Lucida Console" pitchFamily="49" charset="0"/>
              </a:rPr>
              <a:t>antiguo</a:t>
            </a:r>
            <a:r>
              <a:rPr lang="en-AU" sz="1400" dirty="0">
                <a:latin typeface="Lucida Console" pitchFamily="49" charset="0"/>
              </a:rPr>
              <a:t> $a0)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move $a1, $s1           # 2do </a:t>
            </a:r>
            <a:r>
              <a:rPr lang="es-CL" sz="1400" dirty="0">
                <a:latin typeface="Lucida Console" pitchFamily="49" charset="0"/>
              </a:rPr>
              <a:t>parámetro de </a:t>
            </a:r>
            <a:r>
              <a:rPr lang="en-AU" sz="1400" dirty="0">
                <a:latin typeface="Lucida Console" pitchFamily="49" charset="0"/>
              </a:rPr>
              <a:t>swap </a:t>
            </a:r>
            <a:r>
              <a:rPr lang="es-CL" sz="1400" dirty="0">
                <a:latin typeface="Lucida Console" pitchFamily="49" charset="0"/>
              </a:rPr>
              <a:t>es</a:t>
            </a:r>
            <a:r>
              <a:rPr lang="en-AU" sz="1400" dirty="0">
                <a:latin typeface="Lucida Console" pitchFamily="49" charset="0"/>
              </a:rPr>
              <a:t> j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</a:t>
            </a:r>
            <a:r>
              <a:rPr lang="en-AU" sz="1400" dirty="0">
                <a:solidFill>
                  <a:srgbClr val="FF0000"/>
                </a:solidFill>
                <a:latin typeface="Lucida Console" pitchFamily="49" charset="0"/>
              </a:rPr>
              <a:t>jal  swap               # </a:t>
            </a:r>
            <a:r>
              <a:rPr lang="es-CL" sz="1400" dirty="0">
                <a:solidFill>
                  <a:srgbClr val="FF0000"/>
                </a:solidFill>
                <a:latin typeface="Lucida Console" pitchFamily="49" charset="0"/>
              </a:rPr>
              <a:t>llama procedimiento </a:t>
            </a:r>
            <a:r>
              <a:rPr lang="en-AU" sz="1400" dirty="0">
                <a:solidFill>
                  <a:srgbClr val="FF0000"/>
                </a:solidFill>
                <a:latin typeface="Lucida Console" pitchFamily="49" charset="0"/>
              </a:rPr>
              <a:t>swap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addi $s1, $s1, –1       # j –= 1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j    for2tst            # </a:t>
            </a:r>
            <a:r>
              <a:rPr lang="es-CL" sz="1400" dirty="0">
                <a:latin typeface="Lucida Console" pitchFamily="49" charset="0"/>
              </a:rPr>
              <a:t>salta a</a:t>
            </a:r>
            <a:r>
              <a:rPr lang="en-AU" sz="1400" dirty="0">
                <a:latin typeface="Lucida Console" pitchFamily="49" charset="0"/>
              </a:rPr>
              <a:t> test loop </a:t>
            </a:r>
            <a:r>
              <a:rPr lang="es-CL" sz="1400" dirty="0">
                <a:latin typeface="Lucida Console" pitchFamily="49" charset="0"/>
              </a:rPr>
              <a:t>interno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exit2:   addi $s0, $s0, 1        # i += 1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j    for1tst            # </a:t>
            </a:r>
            <a:r>
              <a:rPr lang="es-CL" sz="1400" dirty="0">
                <a:latin typeface="Lucida Console" pitchFamily="49" charset="0"/>
              </a:rPr>
              <a:t>salta a</a:t>
            </a:r>
            <a:r>
              <a:rPr lang="en-AU" sz="1400" dirty="0">
                <a:latin typeface="Lucida Console" pitchFamily="49" charset="0"/>
              </a:rPr>
              <a:t> test loop </a:t>
            </a:r>
            <a:r>
              <a:rPr lang="es-CL" sz="1400" dirty="0">
                <a:latin typeface="Lucida Console" pitchFamily="49" charset="0"/>
              </a:rPr>
              <a:t>externo</a:t>
            </a:r>
          </a:p>
        </p:txBody>
      </p:sp>
      <p:sp>
        <p:nvSpPr>
          <p:cNvPr id="458768" name="Rectangle 16"/>
          <p:cNvSpPr>
            <a:spLocks noChangeArrowheads="1"/>
          </p:cNvSpPr>
          <p:nvPr/>
        </p:nvSpPr>
        <p:spPr bwMode="auto">
          <a:xfrm>
            <a:off x="7008444" y="5085978"/>
            <a:ext cx="2028052" cy="274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es-CL" sz="1400" dirty="0">
                <a:solidFill>
                  <a:schemeClr val="bg1"/>
                </a:solidFill>
              </a:rPr>
              <a:t>Pasa parámetros y llama</a:t>
            </a:r>
          </a:p>
        </p:txBody>
      </p:sp>
      <p:sp>
        <p:nvSpPr>
          <p:cNvPr id="458771" name="Rectangle 19"/>
          <p:cNvSpPr>
            <a:spLocks noChangeArrowheads="1"/>
          </p:cNvSpPr>
          <p:nvPr/>
        </p:nvSpPr>
        <p:spPr bwMode="auto">
          <a:xfrm>
            <a:off x="7370996" y="1123205"/>
            <a:ext cx="1646005" cy="33042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es-CL" sz="1400" dirty="0">
                <a:solidFill>
                  <a:schemeClr val="bg1"/>
                </a:solidFill>
              </a:rPr>
              <a:t>Mueve parámetros</a:t>
            </a:r>
          </a:p>
        </p:txBody>
      </p:sp>
      <p:sp>
        <p:nvSpPr>
          <p:cNvPr id="458775" name="Rectangle 23"/>
          <p:cNvSpPr>
            <a:spLocks noChangeArrowheads="1"/>
          </p:cNvSpPr>
          <p:nvPr/>
        </p:nvSpPr>
        <p:spPr bwMode="auto">
          <a:xfrm>
            <a:off x="7956378" y="5806058"/>
            <a:ext cx="1060623" cy="274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en-AU" sz="1400" dirty="0">
                <a:solidFill>
                  <a:schemeClr val="bg1"/>
                </a:solidFill>
              </a:rPr>
              <a:t>Loop </a:t>
            </a:r>
            <a:r>
              <a:rPr lang="es-CL" sz="1400" dirty="0">
                <a:solidFill>
                  <a:schemeClr val="bg1"/>
                </a:solidFill>
              </a:rPr>
              <a:t>interno</a:t>
            </a:r>
          </a:p>
        </p:txBody>
      </p:sp>
      <p:sp>
        <p:nvSpPr>
          <p:cNvPr id="458776" name="Rectangle 24"/>
          <p:cNvSpPr>
            <a:spLocks noChangeArrowheads="1"/>
          </p:cNvSpPr>
          <p:nvPr/>
        </p:nvSpPr>
        <p:spPr bwMode="auto">
          <a:xfrm>
            <a:off x="7931888" y="6395453"/>
            <a:ext cx="1095153" cy="274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en-AU" sz="1400" dirty="0">
                <a:solidFill>
                  <a:schemeClr val="bg1"/>
                </a:solidFill>
              </a:rPr>
              <a:t>Loop </a:t>
            </a:r>
            <a:r>
              <a:rPr lang="es-CL" sz="1400" dirty="0">
                <a:solidFill>
                  <a:schemeClr val="bg1"/>
                </a:solidFill>
              </a:rPr>
              <a:t>externo</a:t>
            </a:r>
          </a:p>
        </p:txBody>
      </p:sp>
      <p:sp>
        <p:nvSpPr>
          <p:cNvPr id="458777" name="Rectangle 25"/>
          <p:cNvSpPr>
            <a:spLocks noChangeArrowheads="1"/>
          </p:cNvSpPr>
          <p:nvPr/>
        </p:nvSpPr>
        <p:spPr bwMode="auto">
          <a:xfrm>
            <a:off x="7956378" y="3148742"/>
            <a:ext cx="1060623" cy="274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en-AU" sz="1400" dirty="0">
                <a:solidFill>
                  <a:schemeClr val="bg1"/>
                </a:solidFill>
              </a:rPr>
              <a:t>Loop </a:t>
            </a:r>
            <a:r>
              <a:rPr lang="es-CL" sz="1400" dirty="0">
                <a:solidFill>
                  <a:schemeClr val="bg1"/>
                </a:solidFill>
              </a:rPr>
              <a:t>interno</a:t>
            </a:r>
          </a:p>
        </p:txBody>
      </p:sp>
      <p:sp>
        <p:nvSpPr>
          <p:cNvPr id="458780" name="Rectangle 28"/>
          <p:cNvSpPr>
            <a:spLocks noChangeArrowheads="1"/>
          </p:cNvSpPr>
          <p:nvPr/>
        </p:nvSpPr>
        <p:spPr bwMode="auto">
          <a:xfrm>
            <a:off x="7931888" y="1729189"/>
            <a:ext cx="1095153" cy="274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/>
          <a:lstStyle/>
          <a:p>
            <a:r>
              <a:rPr lang="en-AU" sz="1400" dirty="0">
                <a:solidFill>
                  <a:schemeClr val="bg1"/>
                </a:solidFill>
              </a:rPr>
              <a:t>Loop </a:t>
            </a:r>
            <a:r>
              <a:rPr lang="es-CL" sz="1400" dirty="0">
                <a:solidFill>
                  <a:schemeClr val="bg1"/>
                </a:solidFill>
              </a:rPr>
              <a:t>externo</a:t>
            </a:r>
          </a:p>
        </p:txBody>
      </p:sp>
    </p:spTree>
    <p:extLst>
      <p:ext uri="{BB962C8B-B14F-4D97-AF65-F5344CB8AC3E}">
        <p14:creationId xmlns:p14="http://schemas.microsoft.com/office/powerpoint/2010/main" val="256212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9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11700" y="1969883"/>
            <a:ext cx="8520600" cy="4556255"/>
          </a:xfrm>
          <a:noFill/>
          <a:ln/>
        </p:spPr>
        <p:txBody>
          <a:bodyPr/>
          <a:lstStyle/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sort:    addi $sp,$sp, –20      # </a:t>
            </a:r>
            <a:r>
              <a:rPr lang="es-CL" sz="1400" dirty="0">
                <a:latin typeface="Lucida Console" pitchFamily="49" charset="0"/>
              </a:rPr>
              <a:t>hace espacio en </a:t>
            </a:r>
            <a:r>
              <a:rPr lang="en-US" sz="1400" dirty="0">
                <a:latin typeface="Lucida Console" pitchFamily="49" charset="0"/>
              </a:rPr>
              <a:t>stack</a:t>
            </a:r>
            <a:r>
              <a:rPr lang="es-CL" sz="1400" dirty="0">
                <a:latin typeface="Lucida Console" pitchFamily="49" charset="0"/>
              </a:rPr>
              <a:t> para 5 registros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sw $ra, 16($sp)        # </a:t>
            </a:r>
            <a:r>
              <a:rPr lang="es-CL" sz="1400" dirty="0">
                <a:latin typeface="Lucida Console" pitchFamily="49" charset="0"/>
              </a:rPr>
              <a:t>guarda</a:t>
            </a:r>
            <a:r>
              <a:rPr lang="en-AU" sz="1400" dirty="0">
                <a:latin typeface="Lucida Console" pitchFamily="49" charset="0"/>
              </a:rPr>
              <a:t> $ra </a:t>
            </a:r>
            <a:r>
              <a:rPr lang="es-CL" sz="1400" dirty="0">
                <a:latin typeface="Lucida Console" pitchFamily="49" charset="0"/>
              </a:rPr>
              <a:t>en el </a:t>
            </a:r>
            <a:r>
              <a:rPr lang="en-AU" sz="1400" dirty="0">
                <a:latin typeface="Lucida Console" pitchFamily="49" charset="0"/>
              </a:rPr>
              <a:t>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sw $s3,12($sp)         # </a:t>
            </a:r>
            <a:r>
              <a:rPr lang="es-CL" sz="1400" dirty="0">
                <a:latin typeface="Lucida Console" pitchFamily="49" charset="0"/>
              </a:rPr>
              <a:t>guarda</a:t>
            </a:r>
            <a:r>
              <a:rPr lang="en-AU" sz="1400" dirty="0">
                <a:latin typeface="Lucida Console" pitchFamily="49" charset="0"/>
              </a:rPr>
              <a:t> $s3 </a:t>
            </a:r>
            <a:r>
              <a:rPr lang="es-CL" sz="1400" dirty="0">
                <a:latin typeface="Lucida Console" pitchFamily="49" charset="0"/>
              </a:rPr>
              <a:t>en el </a:t>
            </a:r>
            <a:r>
              <a:rPr lang="en-AU" sz="1400" dirty="0">
                <a:latin typeface="Lucida Console" pitchFamily="49" charset="0"/>
              </a:rPr>
              <a:t>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sw $s2, 8($sp)         # </a:t>
            </a:r>
            <a:r>
              <a:rPr lang="es-CL" sz="1400" dirty="0">
                <a:latin typeface="Lucida Console" pitchFamily="49" charset="0"/>
              </a:rPr>
              <a:t>guarda</a:t>
            </a:r>
            <a:r>
              <a:rPr lang="en-AU" sz="1400" dirty="0">
                <a:latin typeface="Lucida Console" pitchFamily="49" charset="0"/>
              </a:rPr>
              <a:t> $s2 </a:t>
            </a:r>
            <a:r>
              <a:rPr lang="es-CL" sz="1400" dirty="0">
                <a:latin typeface="Lucida Console" pitchFamily="49" charset="0"/>
              </a:rPr>
              <a:t>en el </a:t>
            </a:r>
            <a:r>
              <a:rPr lang="en-AU" sz="1400" dirty="0">
                <a:latin typeface="Lucida Console" pitchFamily="49" charset="0"/>
              </a:rPr>
              <a:t>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sw $s1, 4($sp)         # </a:t>
            </a:r>
            <a:r>
              <a:rPr lang="es-CL" sz="1400" dirty="0">
                <a:latin typeface="Lucida Console" pitchFamily="49" charset="0"/>
              </a:rPr>
              <a:t>guarda</a:t>
            </a:r>
            <a:r>
              <a:rPr lang="en-AU" sz="1400" dirty="0">
                <a:latin typeface="Lucida Console" pitchFamily="49" charset="0"/>
              </a:rPr>
              <a:t> $s1 </a:t>
            </a:r>
            <a:r>
              <a:rPr lang="es-CL" sz="1400" dirty="0">
                <a:latin typeface="Lucida Console" pitchFamily="49" charset="0"/>
              </a:rPr>
              <a:t>en el </a:t>
            </a:r>
            <a:r>
              <a:rPr lang="en-AU" sz="1400" dirty="0">
                <a:latin typeface="Lucida Console" pitchFamily="49" charset="0"/>
              </a:rPr>
              <a:t>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sw $s0, 0($sp)         # </a:t>
            </a:r>
            <a:r>
              <a:rPr lang="es-CL" sz="1400" dirty="0">
                <a:latin typeface="Lucida Console" pitchFamily="49" charset="0"/>
              </a:rPr>
              <a:t>guarda</a:t>
            </a:r>
            <a:r>
              <a:rPr lang="en-AU" sz="1400" dirty="0">
                <a:latin typeface="Lucida Console" pitchFamily="49" charset="0"/>
              </a:rPr>
              <a:t> $s0 </a:t>
            </a:r>
            <a:r>
              <a:rPr lang="es-CL" sz="1400" dirty="0">
                <a:latin typeface="Lucida Console" pitchFamily="49" charset="0"/>
              </a:rPr>
              <a:t>en el </a:t>
            </a:r>
            <a:r>
              <a:rPr lang="en-AU" sz="1400" dirty="0">
                <a:latin typeface="Lucida Console" pitchFamily="49" charset="0"/>
              </a:rPr>
              <a:t>stack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</a:t>
            </a:r>
            <a:r>
              <a:rPr lang="en-AU" sz="1400" dirty="0">
                <a:solidFill>
                  <a:srgbClr val="FF0000"/>
                </a:solidFill>
                <a:latin typeface="Lucida Console" pitchFamily="49" charset="0"/>
              </a:rPr>
              <a:t>…                      # </a:t>
            </a:r>
            <a:r>
              <a:rPr lang="es-CL" sz="1400" dirty="0">
                <a:solidFill>
                  <a:srgbClr val="FF0000"/>
                </a:solidFill>
                <a:latin typeface="Lucida Console" pitchFamily="49" charset="0"/>
              </a:rPr>
              <a:t>cuerpo del procedimiento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solidFill>
                  <a:srgbClr val="FF0000"/>
                </a:solidFill>
                <a:latin typeface="Lucida Console" pitchFamily="49" charset="0"/>
              </a:rPr>
              <a:t>         …		       # </a:t>
            </a:r>
            <a:r>
              <a:rPr lang="es-CL" sz="1400" dirty="0">
                <a:solidFill>
                  <a:srgbClr val="FF0000"/>
                </a:solidFill>
                <a:latin typeface="Lucida Console" pitchFamily="49" charset="0"/>
              </a:rPr>
              <a:t>cuerpo del procedimiento</a:t>
            </a:r>
            <a:endParaRPr lang="en-AU" sz="1400" dirty="0">
              <a:solidFill>
                <a:srgbClr val="FF0000"/>
              </a:solidFill>
              <a:latin typeface="Lucida Console" pitchFamily="49" charset="0"/>
            </a:endParaRP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exit1: lw $s0, 0($sp)         # </a:t>
            </a:r>
            <a:r>
              <a:rPr lang="es-CL" sz="1400" dirty="0">
                <a:latin typeface="Lucida Console" pitchFamily="49" charset="0"/>
              </a:rPr>
              <a:t>recupera</a:t>
            </a:r>
            <a:r>
              <a:rPr lang="en-AU" sz="1400" dirty="0">
                <a:latin typeface="Lucida Console" pitchFamily="49" charset="0"/>
              </a:rPr>
              <a:t> $s0 </a:t>
            </a:r>
            <a:r>
              <a:rPr lang="es-CL" sz="1400" dirty="0">
                <a:latin typeface="Lucida Console" pitchFamily="49" charset="0"/>
              </a:rPr>
              <a:t>del</a:t>
            </a:r>
            <a:r>
              <a:rPr lang="en-AU" sz="1400" dirty="0">
                <a:latin typeface="Lucida Console" pitchFamily="49" charset="0"/>
              </a:rPr>
              <a:t> 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lw $s1, 4($sp)         # </a:t>
            </a:r>
            <a:r>
              <a:rPr lang="es-CL" sz="1400" dirty="0">
                <a:latin typeface="Lucida Console" pitchFamily="49" charset="0"/>
              </a:rPr>
              <a:t>recupera</a:t>
            </a:r>
            <a:r>
              <a:rPr lang="en-AU" sz="1400" dirty="0">
                <a:latin typeface="Lucida Console" pitchFamily="49" charset="0"/>
              </a:rPr>
              <a:t> $s1 </a:t>
            </a:r>
            <a:r>
              <a:rPr lang="es-CL" sz="1400" dirty="0">
                <a:latin typeface="Lucida Console" pitchFamily="49" charset="0"/>
              </a:rPr>
              <a:t>del</a:t>
            </a:r>
            <a:r>
              <a:rPr lang="en-AU" sz="1400" dirty="0">
                <a:latin typeface="Lucida Console" pitchFamily="49" charset="0"/>
              </a:rPr>
              <a:t> 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lw $s2, 8($sp)         # </a:t>
            </a:r>
            <a:r>
              <a:rPr lang="es-CL" sz="1400" dirty="0">
                <a:latin typeface="Lucida Console" pitchFamily="49" charset="0"/>
              </a:rPr>
              <a:t>recupera</a:t>
            </a:r>
            <a:r>
              <a:rPr lang="en-AU" sz="1400" dirty="0">
                <a:latin typeface="Lucida Console" pitchFamily="49" charset="0"/>
              </a:rPr>
              <a:t> $s2 </a:t>
            </a:r>
            <a:r>
              <a:rPr lang="es-CL" sz="1400" dirty="0">
                <a:latin typeface="Lucida Console" pitchFamily="49" charset="0"/>
              </a:rPr>
              <a:t>del</a:t>
            </a:r>
            <a:r>
              <a:rPr lang="en-AU" sz="1400" dirty="0">
                <a:latin typeface="Lucida Console" pitchFamily="49" charset="0"/>
              </a:rPr>
              <a:t> 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lw $s3,12($sp)         # </a:t>
            </a:r>
            <a:r>
              <a:rPr lang="es-CL" sz="1400" dirty="0">
                <a:latin typeface="Lucida Console" pitchFamily="49" charset="0"/>
              </a:rPr>
              <a:t>recupera</a:t>
            </a:r>
            <a:r>
              <a:rPr lang="en-AU" sz="1400" dirty="0">
                <a:latin typeface="Lucida Console" pitchFamily="49" charset="0"/>
              </a:rPr>
              <a:t> $s3 </a:t>
            </a:r>
            <a:r>
              <a:rPr lang="es-CL" sz="1400" dirty="0">
                <a:latin typeface="Lucida Console" pitchFamily="49" charset="0"/>
              </a:rPr>
              <a:t>del</a:t>
            </a:r>
            <a:r>
              <a:rPr lang="en-AU" sz="1400" dirty="0">
                <a:latin typeface="Lucida Console" pitchFamily="49" charset="0"/>
              </a:rPr>
              <a:t> 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lw $ra,16($sp)         # </a:t>
            </a:r>
            <a:r>
              <a:rPr lang="es-CL" sz="1400" dirty="0">
                <a:latin typeface="Lucida Console" pitchFamily="49" charset="0"/>
              </a:rPr>
              <a:t>recupera</a:t>
            </a:r>
            <a:r>
              <a:rPr lang="en-AU" sz="1400" dirty="0">
                <a:latin typeface="Lucida Console" pitchFamily="49" charset="0"/>
              </a:rPr>
              <a:t> $ra </a:t>
            </a:r>
            <a:r>
              <a:rPr lang="es-CL" sz="1400" dirty="0">
                <a:latin typeface="Lucida Console" pitchFamily="49" charset="0"/>
              </a:rPr>
              <a:t>del</a:t>
            </a:r>
            <a:r>
              <a:rPr lang="en-AU" sz="1400" dirty="0">
                <a:latin typeface="Lucida Console" pitchFamily="49" charset="0"/>
              </a:rPr>
              <a:t> stack</a:t>
            </a:r>
          </a:p>
          <a:p>
            <a:pPr>
              <a:spcBef>
                <a:spcPct val="15000"/>
              </a:spcBef>
              <a:buNone/>
            </a:pPr>
            <a:r>
              <a:rPr lang="en-AU" sz="1400" dirty="0">
                <a:latin typeface="Lucida Console" pitchFamily="49" charset="0"/>
              </a:rPr>
              <a:t>         addi $sp,$sp, 20       # </a:t>
            </a:r>
            <a:r>
              <a:rPr lang="es-CL" sz="1400" dirty="0">
                <a:latin typeface="Lucida Console" pitchFamily="49" charset="0"/>
              </a:rPr>
              <a:t>recupera</a:t>
            </a:r>
            <a:r>
              <a:rPr lang="en-AU" sz="1400" dirty="0">
                <a:latin typeface="Lucida Console" pitchFamily="49" charset="0"/>
              </a:rPr>
              <a:t> </a:t>
            </a:r>
            <a:r>
              <a:rPr lang="es-CL" sz="1400" dirty="0">
                <a:latin typeface="Lucida Console" pitchFamily="49" charset="0"/>
              </a:rPr>
              <a:t>puntero de </a:t>
            </a:r>
            <a:r>
              <a:rPr lang="en-AU" sz="1400" dirty="0">
                <a:latin typeface="Lucida Console" pitchFamily="49" charset="0"/>
              </a:rPr>
              <a:t>stack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AU" sz="1400" dirty="0">
                <a:latin typeface="Lucida Console" pitchFamily="49" charset="0"/>
              </a:rPr>
              <a:t>         jr $ra                 # </a:t>
            </a:r>
            <a:r>
              <a:rPr lang="es-CL" sz="1400" dirty="0">
                <a:latin typeface="Lucida Console" pitchFamily="49" charset="0"/>
              </a:rPr>
              <a:t>retorna a rutina llamante (del </a:t>
            </a:r>
            <a:r>
              <a:rPr lang="es-CL" sz="1400" dirty="0" err="1">
                <a:latin typeface="Lucida Console" pitchFamily="49" charset="0"/>
              </a:rPr>
              <a:t>sort</a:t>
            </a:r>
            <a:r>
              <a:rPr lang="es-CL" sz="1400" dirty="0">
                <a:latin typeface="Lucida Console" pitchFamily="49" charset="0"/>
              </a:rPr>
              <a:t>)</a:t>
            </a:r>
          </a:p>
        </p:txBody>
      </p:sp>
      <p:sp>
        <p:nvSpPr>
          <p:cNvPr id="3" name="Diagrama de flujo: terminador 2">
            <a:extLst>
              <a:ext uri="{FF2B5EF4-FFF2-40B4-BE49-F238E27FC236}">
                <a16:creationId xmlns:a16="http://schemas.microsoft.com/office/drawing/2014/main" id="{B392D97B-315B-495A-B98B-E3B6C0375851}"/>
              </a:ext>
            </a:extLst>
          </p:cNvPr>
          <p:cNvSpPr/>
          <p:nvPr/>
        </p:nvSpPr>
        <p:spPr>
          <a:xfrm>
            <a:off x="1166358" y="3789834"/>
            <a:ext cx="2592288" cy="504056"/>
          </a:xfrm>
          <a:prstGeom prst="flowChartTerminator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1C8D395-A970-413A-920D-8244EAF55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504" y="189434"/>
            <a:ext cx="9036496" cy="1612154"/>
          </a:xfrm>
        </p:spPr>
        <p:txBody>
          <a:bodyPr/>
          <a:lstStyle/>
          <a:p>
            <a:r>
              <a:rPr lang="en-AU" b="1" dirty="0"/>
              <a:t>Etapa2 : </a:t>
            </a:r>
            <a:br>
              <a:rPr lang="en-AU" b="1" dirty="0"/>
            </a:br>
            <a:r>
              <a:rPr lang="en-AU" b="1" dirty="0" err="1"/>
              <a:t>Construir</a:t>
            </a:r>
            <a:r>
              <a:rPr lang="en-AU" b="1" dirty="0"/>
              <a:t> el </a:t>
            </a:r>
            <a:r>
              <a:rPr lang="en-AU" b="1" dirty="0" err="1"/>
              <a:t>procedimiento</a:t>
            </a:r>
            <a:r>
              <a:rPr lang="en-AU" b="1" dirty="0"/>
              <a:t> </a:t>
            </a:r>
            <a:r>
              <a:rPr lang="en-AU" b="1" dirty="0" err="1"/>
              <a:t>integrado</a:t>
            </a:r>
            <a:r>
              <a:rPr lang="en-AU" b="1" dirty="0"/>
              <a:t> de </a:t>
            </a:r>
            <a:r>
              <a:rPr lang="en-AU" b="1" dirty="0" err="1"/>
              <a:t>ordenamiento</a:t>
            </a:r>
            <a:r>
              <a:rPr lang="en-AU" b="1" dirty="0"/>
              <a:t> con la </a:t>
            </a:r>
            <a:r>
              <a:rPr lang="en-AU" b="1" dirty="0" err="1"/>
              <a:t>función</a:t>
            </a:r>
            <a:r>
              <a:rPr lang="en-AU" b="1" dirty="0"/>
              <a:t> swap </a:t>
            </a:r>
            <a:r>
              <a:rPr lang="en-AU" b="1" dirty="0" err="1"/>
              <a:t>usando</a:t>
            </a:r>
            <a:r>
              <a:rPr lang="en-AU" b="1" dirty="0"/>
              <a:t> DrMIPS.</a:t>
            </a:r>
            <a:br>
              <a:rPr lang="en-AU" b="1" dirty="0"/>
            </a:b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298079297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8454</TotalTime>
  <Words>1357</Words>
  <Application>Microsoft Office PowerPoint</Application>
  <PresentationFormat>Personalizado</PresentationFormat>
  <Paragraphs>123</Paragraphs>
  <Slides>11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Lucida Console</vt:lpstr>
      <vt:lpstr>Agency FB</vt:lpstr>
      <vt:lpstr>Arial</vt:lpstr>
      <vt:lpstr>Tahoma</vt:lpstr>
      <vt:lpstr>Proxima Nova</vt:lpstr>
      <vt:lpstr>Wingdings</vt:lpstr>
      <vt:lpstr>Spearmint</vt:lpstr>
      <vt:lpstr>INF60500 - ARQUITECTURA DE COMPUTADORES Depto. de Informática y Computación Primer semestre 2020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Algoritmo de Ordenamiento en C usando swap</vt:lpstr>
      <vt:lpstr>Etapa1 :  Construir el procedimiento SWAP utilizando las instrucciones que soporta DrMIPS. </vt:lpstr>
      <vt:lpstr>El procedimiento de ordenamiento en C con swap incorporado.</vt:lpstr>
      <vt:lpstr>El Cuerpo del Procedimiento</vt:lpstr>
      <vt:lpstr>Etapa2 :  Construir el procedimiento integrado de ordenamiento con la función swap usando DrMIPS.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Jorge</dc:creator>
  <cp:lastModifiedBy>Leonardo Javier Bravo Farias</cp:lastModifiedBy>
  <cp:revision>249</cp:revision>
  <dcterms:modified xsi:type="dcterms:W3CDTF">2021-07-19T22:32:30Z</dcterms:modified>
</cp:coreProperties>
</file>